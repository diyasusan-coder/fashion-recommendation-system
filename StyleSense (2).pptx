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(20 sec): Most outfit tools either need huge labeled datasets, or they just classify a garment without helping you style it. StyleSense takes one photo and gives real, contextual styling advice — what to wear it for, what season, what to pair it with, with actual reference images. It's built in two parts: a CNN I trained from scratch, and a full-stack app on top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slide — supports the opening line, not separately scripted.)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ML Foundation — Colab work (1 min): I started in Colab, training a CNN from scratch — no pretrained weights — on Fashion-MNIST: 70,000 grayscale images, 10 garment classes. Stacked convolution and max-pooling layers learn the features, dense layers with dropout prevent overfitting, and a softmax layer classifies into the 10 categories. I evaluated it properly, not just on accuracy — [state your real test accuracy number] on the test set, plus a confusion matrix and feature-map visualizations to see what the model actually learned. The main confusion was shirts vs. coats vs. pullovers — visually similar even to humans at 28x28 resolution, which is a genuinely useful finding, not just an error. (Point to the Model Insights page here if presenting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 — one tight paragraph (30 sec), keep close to word-for-word: Fashion-MNIST is grayscale and 28x28 — it has no color information and won't generalize to real photos. So instead of forcing it onto live uploads, I kept the CNN as the evaluated, from-scratch model, and used CLIP — a zero-shot vision model — for the live demo, since it works directly on real color photos with no extra training. That's a deliberate, honest engineering choice, not a shortcut.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 fast overview (45 sec): The backend is FastAPI. When you upload a photo: CLIP detects the garment type, k-means clustering pulls the dominant color from the pixels, a Groq-hosted LLM generates styling advice based on the garment, color, occasion, and season, and the Pexels API turns that suggestion into real reference photos. Everything gets saved to SQLite, so the history persists across sessions. The frontend is HTML, Tailwind CSS, and vanilla JavaScript — no heavy framework needed for this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(2-2.5 min — core of your time). Move briskly, narrate as you click: 'Here's the Upload page — photo, occasion, season.' (Upload a pre-tested photo.) 'CLIP detects the garment with confidence scores, the color's extracted and named, and here's the styling suggestion with real pairing photos pulled live.' 'Every look saves automatically to the Lookbook — this persists even if I restart the app.' 'And Model Insights is where the Colab evaluation work lives — training curves, confusion matrix, feature maps, misclassified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(20 sec): So this goes from training and evaluating a CNN from scratch, to a working application doing real garment detection, color analysis, and contextual styling — with the judgment to use the right model for each part of the problem, not just the fanciest one. Thank you — happy to answer any questions.
Q&amp;A BACKUP (only if asked):
Why not train the CNN on real fashion photos? — Fashion-MNIST is ideal for demonstrating training and evaluation fundamentals with a clean benchmark. A real-photo dataset of equivalent quality needs significant collection or licensing — CLIP's zero-shot approach was the practical way to still support real photos live.
What if there's no internet during the demo? — CLIP and color detection run fully locally once cached — only the styling text and pairing images need live internet, and both fall back gracefully if unavailable.
Could this scale to a real product? — The architecture holds up — next steps would be a hosted database instead of local SQLite, user accounts, and likely a fine-tuned vision model for higher accuracy on niche garment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111F"/>
        </a:solidFill>
      </p:bgPr>
    </p:bg>
    <p:spTree>
      <p:nvGrpSpPr>
        <p:cNvPr id="1" name=""/>
        <p:cNvGrpSpPr/>
        <p:nvPr/>
      </p:nvGrpSpPr>
      <p:grpSpPr>
        <a:xfrm>
          <a:off x="0" y="0"/>
          <a:ext cx="0" cy="0"/>
          <a:chOff x="0" y="0"/>
          <a:chExt cx="0" cy="0"/>
        </a:xfrm>
      </p:grpSpPr>
      <p:pic>
        <p:nvPicPr>
          <p:cNvPr id="2" name="Image 0" descr="gradient_pinkblue.png">    </p:cNvPr>
          <p:cNvPicPr>
            <a:picLocks noChangeAspect="1"/>
          </p:cNvPicPr>
          <p:nvPr/>
        </p:nvPicPr>
        <p:blipFill>
          <a:blip r:embed="rId1">
            <a:alphaModFix amt="92000"/>
          </a:blip>
          <a:stretch>
            <a:fillRect/>
          </a:stretch>
        </p:blipFill>
        <p:spPr>
          <a:xfrm>
            <a:off x="9418320" y="-1645920"/>
            <a:ext cx="4754880" cy="4754880"/>
          </a:xfrm>
          <a:prstGeom prst="ellipse">
            <a:avLst/>
          </a:prstGeom>
        </p:spPr>
      </p:pic>
      <p:sp>
        <p:nvSpPr>
          <p:cNvPr id="3" name="Shape 0"/>
          <p:cNvSpPr/>
          <p:nvPr/>
        </p:nvSpPr>
        <p:spPr>
          <a:xfrm>
            <a:off x="10607040" y="3931920"/>
            <a:ext cx="2194560" cy="2194560"/>
          </a:xfrm>
          <a:prstGeom prst="ellipse">
            <a:avLst/>
          </a:prstGeom>
          <a:solidFill>
            <a:srgbClr val="7FD8E8"/>
          </a:solidFill>
          <a:ln/>
        </p:spPr>
      </p:sp>
      <p:sp>
        <p:nvSpPr>
          <p:cNvPr id="4" name="Text 1"/>
          <p:cNvSpPr/>
          <p:nvPr/>
        </p:nvSpPr>
        <p:spPr>
          <a:xfrm>
            <a:off x="640080" y="1965960"/>
            <a:ext cx="457200" cy="457200"/>
          </a:xfrm>
          <a:prstGeom prst="rect">
            <a:avLst/>
          </a:prstGeom>
          <a:noFill/>
          <a:ln/>
        </p:spPr>
        <p:txBody>
          <a:bodyPr wrap="square" rtlCol="0" anchor="ctr"/>
          <a:lstStyle/>
          <a:p>
            <a:pPr indent="0" marL="0">
              <a:buNone/>
            </a:pPr>
            <a:r>
              <a:rPr lang="en-US" sz="2200" b="1" dirty="0">
                <a:solidFill>
                  <a:srgbClr val="F48FB1"/>
                </a:solidFill>
                <a:latin typeface="Calibri" pitchFamily="34" charset="0"/>
                <a:ea typeface="Calibri" pitchFamily="34" charset="-122"/>
                <a:cs typeface="Calibri" pitchFamily="34" charset="-120"/>
              </a:rPr>
              <a:t>✦</a:t>
            </a:r>
            <a:endParaRPr lang="en-US" sz="2200" dirty="0"/>
          </a:p>
        </p:txBody>
      </p:sp>
      <p:sp>
        <p:nvSpPr>
          <p:cNvPr id="5" name="Text 2"/>
          <p:cNvSpPr/>
          <p:nvPr/>
        </p:nvSpPr>
        <p:spPr>
          <a:xfrm>
            <a:off x="960120" y="2029968"/>
            <a:ext cx="4572000" cy="457200"/>
          </a:xfrm>
          <a:prstGeom prst="rect">
            <a:avLst/>
          </a:prstGeom>
          <a:noFill/>
          <a:ln/>
        </p:spPr>
        <p:txBody>
          <a:bodyPr wrap="square" rtlCol="0" anchor="ctr"/>
          <a:lstStyle/>
          <a:p>
            <a:pPr indent="0" marL="0">
              <a:buNone/>
            </a:pPr>
            <a:r>
              <a:rPr lang="en-US" sz="1400" b="1" spc="400" kern="0" dirty="0">
                <a:solidFill>
                  <a:srgbClr val="7FD8E8"/>
                </a:solidFill>
                <a:latin typeface="Calibri" pitchFamily="34" charset="0"/>
                <a:ea typeface="Calibri" pitchFamily="34" charset="-122"/>
                <a:cs typeface="Calibri" pitchFamily="34" charset="-120"/>
              </a:rPr>
              <a:t>STYLESENSE</a:t>
            </a:r>
            <a:endParaRPr lang="en-US" sz="1400" dirty="0"/>
          </a:p>
        </p:txBody>
      </p:sp>
      <p:sp>
        <p:nvSpPr>
          <p:cNvPr id="6" name="Text 3"/>
          <p:cNvSpPr/>
          <p:nvPr/>
        </p:nvSpPr>
        <p:spPr>
          <a:xfrm>
            <a:off x="640080" y="2743200"/>
            <a:ext cx="9601200" cy="137160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From a photo to a fully styled look</a:t>
            </a:r>
            <a:endParaRPr lang="en-US" sz="4000" dirty="0"/>
          </a:p>
        </p:txBody>
      </p:sp>
      <p:sp>
        <p:nvSpPr>
          <p:cNvPr id="7" name="Text 4"/>
          <p:cNvSpPr/>
          <p:nvPr/>
        </p:nvSpPr>
        <p:spPr>
          <a:xfrm>
            <a:off x="640080" y="3931920"/>
            <a:ext cx="7680960" cy="822960"/>
          </a:xfrm>
          <a:prstGeom prst="rect">
            <a:avLst/>
          </a:prstGeom>
          <a:noFill/>
          <a:ln/>
        </p:spPr>
        <p:txBody>
          <a:bodyPr wrap="square" rtlCol="0" anchor="ctr"/>
          <a:lstStyle/>
          <a:p>
            <a:pPr indent="0" marL="0">
              <a:buNone/>
            </a:pPr>
            <a:r>
              <a:rPr lang="en-US" sz="1500" i="1" dirty="0">
                <a:solidFill>
                  <a:srgbClr val="A9A3C2"/>
                </a:solidFill>
                <a:latin typeface="Calibri" pitchFamily="34" charset="0"/>
                <a:ea typeface="Calibri" pitchFamily="34" charset="-122"/>
                <a:cs typeface="Calibri" pitchFamily="34" charset="-120"/>
              </a:rPr>
              <a:t>A CNN trained from scratch, paired with a real-time styling engine — contextual outfit advice with real reference photos.</a:t>
            </a:r>
            <a:endParaRPr lang="en-US" sz="1500" dirty="0"/>
          </a:p>
        </p:txBody>
      </p:sp>
      <p:sp>
        <p:nvSpPr>
          <p:cNvPr id="8" name="Shape 5"/>
          <p:cNvSpPr/>
          <p:nvPr/>
        </p:nvSpPr>
        <p:spPr>
          <a:xfrm>
            <a:off x="640080" y="4846320"/>
            <a:ext cx="1005840" cy="0"/>
          </a:xfrm>
          <a:prstGeom prst="line">
            <a:avLst/>
          </a:prstGeom>
          <a:noFill/>
          <a:ln w="38100">
            <a:solidFill>
              <a:srgbClr val="EC6FA6"/>
            </a:solidFill>
            <a:prstDash val="solid"/>
          </a:ln>
        </p:spPr>
      </p:sp>
      <p:sp>
        <p:nvSpPr>
          <p:cNvPr id="9" name="Text 6"/>
          <p:cNvSpPr/>
          <p:nvPr/>
        </p:nvSpPr>
        <p:spPr>
          <a:xfrm>
            <a:off x="640080" y="5029200"/>
            <a:ext cx="8229600" cy="36576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Garment detection  ·  Color analysis  ·  Contextual styling  ·  Live lookbook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3111F"/>
        </a:solidFill>
      </p:bgPr>
    </p:bg>
    <p:spTree>
      <p:nvGrpSpPr>
        <p:cNvPr id="1" name=""/>
        <p:cNvGrpSpPr/>
        <p:nvPr/>
      </p:nvGrpSpPr>
      <p:grpSpPr>
        <a:xfrm>
          <a:off x="0" y="0"/>
          <a:ext cx="0" cy="0"/>
          <a:chOff x="0" y="0"/>
          <a:chExt cx="0" cy="0"/>
        </a:xfrm>
      </p:grpSpPr>
      <p:sp>
        <p:nvSpPr>
          <p:cNvPr id="2" name="Text 0"/>
          <p:cNvSpPr/>
          <p:nvPr/>
        </p:nvSpPr>
        <p:spPr>
          <a:xfrm>
            <a:off x="640080" y="502920"/>
            <a:ext cx="5486400" cy="365760"/>
          </a:xfrm>
          <a:prstGeom prst="rect">
            <a:avLst/>
          </a:prstGeom>
          <a:noFill/>
          <a:ln/>
        </p:spPr>
        <p:txBody>
          <a:bodyPr wrap="square" rtlCol="0" anchor="ctr"/>
          <a:lstStyle/>
          <a:p>
            <a:pPr indent="0" marL="0">
              <a:buNone/>
            </a:pPr>
            <a:r>
              <a:rPr lang="en-US" sz="1300" b="1" spc="300" kern="0" dirty="0">
                <a:solidFill>
                  <a:srgbClr val="F48FB1"/>
                </a:solidFill>
                <a:latin typeface="Calibri" pitchFamily="34" charset="0"/>
                <a:ea typeface="Calibri" pitchFamily="34" charset="-122"/>
                <a:cs typeface="Calibri" pitchFamily="34" charset="-120"/>
              </a:rPr>
              <a:t>THE GAP</a:t>
            </a:r>
            <a:endParaRPr lang="en-US" sz="1300" dirty="0"/>
          </a:p>
        </p:txBody>
      </p:sp>
      <p:sp>
        <p:nvSpPr>
          <p:cNvPr id="3" name="Text 1"/>
          <p:cNvSpPr/>
          <p:nvPr/>
        </p:nvSpPr>
        <p:spPr>
          <a:xfrm>
            <a:off x="640080" y="822960"/>
            <a:ext cx="10515600" cy="8229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Classifying a garment isn't the same as styling it</a:t>
            </a:r>
            <a:endParaRPr lang="en-US" sz="3000" dirty="0"/>
          </a:p>
        </p:txBody>
      </p:sp>
      <p:sp>
        <p:nvSpPr>
          <p:cNvPr id="4" name="Shape 2"/>
          <p:cNvSpPr/>
          <p:nvPr/>
        </p:nvSpPr>
        <p:spPr>
          <a:xfrm>
            <a:off x="640080" y="2103120"/>
            <a:ext cx="5303520" cy="3931920"/>
          </a:xfrm>
          <a:prstGeom prst="roundRect">
            <a:avLst>
              <a:gd name="adj" fmla="val 2791"/>
            </a:avLst>
          </a:prstGeom>
          <a:solidFill>
            <a:srgbClr val="1D1A2E"/>
          </a:solidFill>
          <a:ln w="12700">
            <a:solidFill>
              <a:srgbClr val="322C4C"/>
            </a:solidFill>
            <a:prstDash val="solid"/>
          </a:ln>
        </p:spPr>
      </p:sp>
      <p:sp>
        <p:nvSpPr>
          <p:cNvPr id="5" name="Shape 3"/>
          <p:cNvSpPr/>
          <p:nvPr/>
        </p:nvSpPr>
        <p:spPr>
          <a:xfrm>
            <a:off x="960120" y="2423160"/>
            <a:ext cx="640080" cy="640080"/>
          </a:xfrm>
          <a:prstGeom prst="roundRect">
            <a:avLst>
              <a:gd name="adj" fmla="val 20000"/>
            </a:avLst>
          </a:prstGeom>
          <a:solidFill>
            <a:srgbClr val="A9A3C2"/>
          </a:solidFill>
          <a:ln/>
        </p:spPr>
      </p:sp>
      <p:sp>
        <p:nvSpPr>
          <p:cNvPr id="6" name="Text 4"/>
          <p:cNvSpPr/>
          <p:nvPr/>
        </p:nvSpPr>
        <p:spPr>
          <a:xfrm>
            <a:off x="960120" y="3246120"/>
            <a:ext cx="4663440" cy="45720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Most existing tools</a:t>
            </a:r>
            <a:endParaRPr lang="en-US" sz="1800" dirty="0"/>
          </a:p>
        </p:txBody>
      </p:sp>
      <p:sp>
        <p:nvSpPr>
          <p:cNvPr id="7" name="Shape 5"/>
          <p:cNvSpPr/>
          <p:nvPr/>
        </p:nvSpPr>
        <p:spPr>
          <a:xfrm>
            <a:off x="960120" y="3977640"/>
            <a:ext cx="82296" cy="82296"/>
          </a:xfrm>
          <a:prstGeom prst="ellipse">
            <a:avLst/>
          </a:prstGeom>
          <a:solidFill>
            <a:srgbClr val="A9A3C2"/>
          </a:solidFill>
          <a:ln/>
        </p:spPr>
      </p:sp>
      <p:sp>
        <p:nvSpPr>
          <p:cNvPr id="8" name="Text 6"/>
          <p:cNvSpPr/>
          <p:nvPr/>
        </p:nvSpPr>
        <p:spPr>
          <a:xfrm>
            <a:off x="1188720" y="3886200"/>
            <a:ext cx="4389120" cy="685800"/>
          </a:xfrm>
          <a:prstGeom prst="rect">
            <a:avLst/>
          </a:prstGeom>
          <a:noFill/>
          <a:ln/>
        </p:spPr>
        <p:txBody>
          <a:bodyPr wrap="square" rtlCol="0" anchor="t"/>
          <a:lstStyle/>
          <a:p>
            <a:pPr indent="0" marL="0">
              <a:lnSpc>
                <a:spcPct val="115000"/>
              </a:lnSpc>
              <a:buNone/>
            </a:pPr>
            <a:r>
              <a:rPr lang="en-US" sz="1350" dirty="0">
                <a:solidFill>
                  <a:srgbClr val="A9A3C2"/>
                </a:solidFill>
                <a:latin typeface="Calibri" pitchFamily="34" charset="0"/>
                <a:ea typeface="Calibri" pitchFamily="34" charset="-122"/>
                <a:cs typeface="Calibri" pitchFamily="34" charset="-120"/>
              </a:rPr>
              <a:t>Need huge labeled fashion datasets to work at all</a:t>
            </a:r>
            <a:endParaRPr lang="en-US" sz="1350" dirty="0"/>
          </a:p>
        </p:txBody>
      </p:sp>
      <p:sp>
        <p:nvSpPr>
          <p:cNvPr id="9" name="Shape 7"/>
          <p:cNvSpPr/>
          <p:nvPr/>
        </p:nvSpPr>
        <p:spPr>
          <a:xfrm>
            <a:off x="960120" y="4754880"/>
            <a:ext cx="82296" cy="82296"/>
          </a:xfrm>
          <a:prstGeom prst="ellipse">
            <a:avLst/>
          </a:prstGeom>
          <a:solidFill>
            <a:srgbClr val="A9A3C2"/>
          </a:solidFill>
          <a:ln/>
        </p:spPr>
      </p:sp>
      <p:sp>
        <p:nvSpPr>
          <p:cNvPr id="10" name="Text 8"/>
          <p:cNvSpPr/>
          <p:nvPr/>
        </p:nvSpPr>
        <p:spPr>
          <a:xfrm>
            <a:off x="1188720" y="4663440"/>
            <a:ext cx="4389120" cy="685800"/>
          </a:xfrm>
          <a:prstGeom prst="rect">
            <a:avLst/>
          </a:prstGeom>
          <a:noFill/>
          <a:ln/>
        </p:spPr>
        <p:txBody>
          <a:bodyPr wrap="square" rtlCol="0" anchor="t"/>
          <a:lstStyle/>
          <a:p>
            <a:pPr indent="0" marL="0">
              <a:lnSpc>
                <a:spcPct val="115000"/>
              </a:lnSpc>
              <a:buNone/>
            </a:pPr>
            <a:r>
              <a:rPr lang="en-US" sz="1350" dirty="0">
                <a:solidFill>
                  <a:srgbClr val="A9A3C2"/>
                </a:solidFill>
                <a:latin typeface="Calibri" pitchFamily="34" charset="0"/>
                <a:ea typeface="Calibri" pitchFamily="34" charset="-122"/>
                <a:cs typeface="Calibri" pitchFamily="34" charset="-120"/>
              </a:rPr>
              <a:t>Stop at a classification label — "this is a shirt"</a:t>
            </a:r>
            <a:endParaRPr lang="en-US" sz="1350" dirty="0"/>
          </a:p>
        </p:txBody>
      </p:sp>
      <p:sp>
        <p:nvSpPr>
          <p:cNvPr id="11" name="Shape 9"/>
          <p:cNvSpPr/>
          <p:nvPr/>
        </p:nvSpPr>
        <p:spPr>
          <a:xfrm>
            <a:off x="960120" y="5532120"/>
            <a:ext cx="82296" cy="82296"/>
          </a:xfrm>
          <a:prstGeom prst="ellipse">
            <a:avLst/>
          </a:prstGeom>
          <a:solidFill>
            <a:srgbClr val="A9A3C2"/>
          </a:solidFill>
          <a:ln/>
        </p:spPr>
      </p:sp>
      <p:sp>
        <p:nvSpPr>
          <p:cNvPr id="12" name="Text 10"/>
          <p:cNvSpPr/>
          <p:nvPr/>
        </p:nvSpPr>
        <p:spPr>
          <a:xfrm>
            <a:off x="1188720" y="5440680"/>
            <a:ext cx="4389120" cy="685800"/>
          </a:xfrm>
          <a:prstGeom prst="rect">
            <a:avLst/>
          </a:prstGeom>
          <a:noFill/>
          <a:ln/>
        </p:spPr>
        <p:txBody>
          <a:bodyPr wrap="square" rtlCol="0" anchor="t"/>
          <a:lstStyle/>
          <a:p>
            <a:pPr indent="0" marL="0">
              <a:lnSpc>
                <a:spcPct val="115000"/>
              </a:lnSpc>
              <a:buNone/>
            </a:pPr>
            <a:r>
              <a:rPr lang="en-US" sz="1350" dirty="0">
                <a:solidFill>
                  <a:srgbClr val="A9A3C2"/>
                </a:solidFill>
                <a:latin typeface="Calibri" pitchFamily="34" charset="0"/>
                <a:ea typeface="Calibri" pitchFamily="34" charset="-122"/>
                <a:cs typeface="Calibri" pitchFamily="34" charset="-120"/>
              </a:rPr>
              <a:t>Give no sense of occasion, season, or pairing</a:t>
            </a:r>
            <a:endParaRPr lang="en-US" sz="1350" dirty="0"/>
          </a:p>
        </p:txBody>
      </p:sp>
      <p:sp>
        <p:nvSpPr>
          <p:cNvPr id="13" name="Shape 11"/>
          <p:cNvSpPr/>
          <p:nvPr/>
        </p:nvSpPr>
        <p:spPr>
          <a:xfrm>
            <a:off x="6309360" y="2103120"/>
            <a:ext cx="5303520" cy="3931920"/>
          </a:xfrm>
          <a:prstGeom prst="roundRect">
            <a:avLst>
              <a:gd name="adj" fmla="val 2791"/>
            </a:avLst>
          </a:prstGeom>
          <a:solidFill>
            <a:srgbClr val="1D1A2E"/>
          </a:solidFill>
          <a:ln w="12700">
            <a:solidFill>
              <a:srgbClr val="322C4C"/>
            </a:solidFill>
            <a:prstDash val="solid"/>
          </a:ln>
        </p:spPr>
      </p:sp>
      <p:sp>
        <p:nvSpPr>
          <p:cNvPr id="14" name="Shape 12"/>
          <p:cNvSpPr/>
          <p:nvPr/>
        </p:nvSpPr>
        <p:spPr>
          <a:xfrm>
            <a:off x="6629400" y="2423160"/>
            <a:ext cx="640080" cy="640080"/>
          </a:xfrm>
          <a:prstGeom prst="roundRect">
            <a:avLst>
              <a:gd name="adj" fmla="val 20000"/>
            </a:avLst>
          </a:prstGeom>
          <a:solidFill>
            <a:srgbClr val="EC6FA6"/>
          </a:solidFill>
          <a:ln/>
        </p:spPr>
      </p:sp>
      <p:sp>
        <p:nvSpPr>
          <p:cNvPr id="15" name="Text 13"/>
          <p:cNvSpPr/>
          <p:nvPr/>
        </p:nvSpPr>
        <p:spPr>
          <a:xfrm>
            <a:off x="6629400" y="3246120"/>
            <a:ext cx="4663440" cy="45720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What StyleSense does</a:t>
            </a:r>
            <a:endParaRPr lang="en-US" sz="1800" dirty="0"/>
          </a:p>
        </p:txBody>
      </p:sp>
      <p:sp>
        <p:nvSpPr>
          <p:cNvPr id="16" name="Shape 14"/>
          <p:cNvSpPr/>
          <p:nvPr/>
        </p:nvSpPr>
        <p:spPr>
          <a:xfrm>
            <a:off x="6629400" y="3977640"/>
            <a:ext cx="82296" cy="82296"/>
          </a:xfrm>
          <a:prstGeom prst="ellipse">
            <a:avLst/>
          </a:prstGeom>
          <a:solidFill>
            <a:srgbClr val="EC6FA6"/>
          </a:solidFill>
          <a:ln/>
        </p:spPr>
      </p:sp>
      <p:sp>
        <p:nvSpPr>
          <p:cNvPr id="17" name="Text 15"/>
          <p:cNvSpPr/>
          <p:nvPr/>
        </p:nvSpPr>
        <p:spPr>
          <a:xfrm>
            <a:off x="6858000" y="3886200"/>
            <a:ext cx="4389120" cy="685800"/>
          </a:xfrm>
          <a:prstGeom prst="rect">
            <a:avLst/>
          </a:prstGeom>
          <a:noFill/>
          <a:ln/>
        </p:spPr>
        <p:txBody>
          <a:bodyPr wrap="square" rtlCol="0" anchor="t"/>
          <a:lstStyle/>
          <a:p>
            <a:pPr indent="0" marL="0">
              <a:lnSpc>
                <a:spcPct val="115000"/>
              </a:lnSpc>
              <a:buNone/>
            </a:pPr>
            <a:r>
              <a:rPr lang="en-US" sz="1350" dirty="0">
                <a:solidFill>
                  <a:srgbClr val="A9A3C2"/>
                </a:solidFill>
                <a:latin typeface="Calibri" pitchFamily="34" charset="0"/>
                <a:ea typeface="Calibri" pitchFamily="34" charset="-122"/>
                <a:cs typeface="Calibri" pitchFamily="34" charset="-120"/>
              </a:rPr>
              <a:t>One photo in — full contextual styling advice out</a:t>
            </a:r>
            <a:endParaRPr lang="en-US" sz="1350" dirty="0"/>
          </a:p>
        </p:txBody>
      </p:sp>
      <p:sp>
        <p:nvSpPr>
          <p:cNvPr id="18" name="Shape 16"/>
          <p:cNvSpPr/>
          <p:nvPr/>
        </p:nvSpPr>
        <p:spPr>
          <a:xfrm>
            <a:off x="6629400" y="4754880"/>
            <a:ext cx="82296" cy="82296"/>
          </a:xfrm>
          <a:prstGeom prst="ellipse">
            <a:avLst/>
          </a:prstGeom>
          <a:solidFill>
            <a:srgbClr val="EC6FA6"/>
          </a:solidFill>
          <a:ln/>
        </p:spPr>
      </p:sp>
      <p:sp>
        <p:nvSpPr>
          <p:cNvPr id="19" name="Text 17"/>
          <p:cNvSpPr/>
          <p:nvPr/>
        </p:nvSpPr>
        <p:spPr>
          <a:xfrm>
            <a:off x="6858000" y="4663440"/>
            <a:ext cx="4389120" cy="685800"/>
          </a:xfrm>
          <a:prstGeom prst="rect">
            <a:avLst/>
          </a:prstGeom>
          <a:noFill/>
          <a:ln/>
        </p:spPr>
        <p:txBody>
          <a:bodyPr wrap="square" rtlCol="0" anchor="t"/>
          <a:lstStyle/>
          <a:p>
            <a:pPr indent="0" marL="0">
              <a:lnSpc>
                <a:spcPct val="115000"/>
              </a:lnSpc>
              <a:buNone/>
            </a:pPr>
            <a:r>
              <a:rPr lang="en-US" sz="1350" dirty="0">
                <a:solidFill>
                  <a:srgbClr val="A9A3C2"/>
                </a:solidFill>
                <a:latin typeface="Calibri" pitchFamily="34" charset="0"/>
                <a:ea typeface="Calibri" pitchFamily="34" charset="-122"/>
                <a:cs typeface="Calibri" pitchFamily="34" charset="-120"/>
              </a:rPr>
              <a:t>Occasion + season aware recommendations</a:t>
            </a:r>
            <a:endParaRPr lang="en-US" sz="1350" dirty="0"/>
          </a:p>
        </p:txBody>
      </p:sp>
      <p:sp>
        <p:nvSpPr>
          <p:cNvPr id="20" name="Shape 18"/>
          <p:cNvSpPr/>
          <p:nvPr/>
        </p:nvSpPr>
        <p:spPr>
          <a:xfrm>
            <a:off x="6629400" y="5532120"/>
            <a:ext cx="82296" cy="82296"/>
          </a:xfrm>
          <a:prstGeom prst="ellipse">
            <a:avLst/>
          </a:prstGeom>
          <a:solidFill>
            <a:srgbClr val="EC6FA6"/>
          </a:solidFill>
          <a:ln/>
        </p:spPr>
      </p:sp>
      <p:sp>
        <p:nvSpPr>
          <p:cNvPr id="21" name="Text 19"/>
          <p:cNvSpPr/>
          <p:nvPr/>
        </p:nvSpPr>
        <p:spPr>
          <a:xfrm>
            <a:off x="6858000" y="5440680"/>
            <a:ext cx="4389120" cy="685800"/>
          </a:xfrm>
          <a:prstGeom prst="rect">
            <a:avLst/>
          </a:prstGeom>
          <a:noFill/>
          <a:ln/>
        </p:spPr>
        <p:txBody>
          <a:bodyPr wrap="square" rtlCol="0" anchor="t"/>
          <a:lstStyle/>
          <a:p>
            <a:pPr indent="0" marL="0">
              <a:lnSpc>
                <a:spcPct val="115000"/>
              </a:lnSpc>
              <a:buNone/>
            </a:pPr>
            <a:r>
              <a:rPr lang="en-US" sz="1350" dirty="0">
                <a:solidFill>
                  <a:srgbClr val="A9A3C2"/>
                </a:solidFill>
                <a:latin typeface="Calibri" pitchFamily="34" charset="0"/>
                <a:ea typeface="Calibri" pitchFamily="34" charset="-122"/>
                <a:cs typeface="Calibri" pitchFamily="34" charset="-120"/>
              </a:rPr>
              <a:t>Real reference photos for every suggested pairing</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3111F"/>
        </a:solidFill>
      </p:bgPr>
    </p:bg>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rtlCol="0" anchor="ctr"/>
          <a:lstStyle/>
          <a:p>
            <a:pPr indent="0" marL="0">
              <a:buNone/>
            </a:pPr>
            <a:r>
              <a:rPr lang="en-US" sz="1300" b="1" spc="300" kern="0" dirty="0">
                <a:solidFill>
                  <a:srgbClr val="F48FB1"/>
                </a:solidFill>
                <a:latin typeface="Calibri" pitchFamily="34" charset="0"/>
                <a:ea typeface="Calibri" pitchFamily="34" charset="-122"/>
                <a:cs typeface="Calibri" pitchFamily="34" charset="-120"/>
              </a:rPr>
              <a:t>PART ONE — THE ML FOUNDATION</a:t>
            </a:r>
            <a:endParaRPr lang="en-US" sz="1300" dirty="0"/>
          </a:p>
        </p:txBody>
      </p:sp>
      <p:sp>
        <p:nvSpPr>
          <p:cNvPr id="3" name="Text 1"/>
          <p:cNvSpPr/>
          <p:nvPr/>
        </p:nvSpPr>
        <p:spPr>
          <a:xfrm>
            <a:off x="640080" y="822960"/>
            <a:ext cx="1051560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 CNN trained from scratch on Fashion-MNIST</a:t>
            </a:r>
            <a:endParaRPr lang="en-US" sz="2800" dirty="0"/>
          </a:p>
        </p:txBody>
      </p:sp>
      <p:sp>
        <p:nvSpPr>
          <p:cNvPr id="4" name="Shape 2"/>
          <p:cNvSpPr/>
          <p:nvPr/>
        </p:nvSpPr>
        <p:spPr>
          <a:xfrm>
            <a:off x="640080" y="1920240"/>
            <a:ext cx="5120640" cy="749808"/>
          </a:xfrm>
          <a:prstGeom prst="roundRect">
            <a:avLst>
              <a:gd name="adj" fmla="val 9756"/>
            </a:avLst>
          </a:prstGeom>
          <a:solidFill>
            <a:srgbClr val="241F3A"/>
          </a:solidFill>
          <a:ln w="12700">
            <a:solidFill>
              <a:srgbClr val="322C4C"/>
            </a:solidFill>
            <a:prstDash val="solid"/>
          </a:ln>
        </p:spPr>
      </p:sp>
      <p:sp>
        <p:nvSpPr>
          <p:cNvPr id="5" name="Text 3"/>
          <p:cNvSpPr/>
          <p:nvPr/>
        </p:nvSpPr>
        <p:spPr>
          <a:xfrm>
            <a:off x="914400" y="1975104"/>
            <a:ext cx="457200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Input</a:t>
            </a:r>
            <a:endParaRPr lang="en-US" sz="1400" dirty="0"/>
          </a:p>
        </p:txBody>
      </p:sp>
      <p:sp>
        <p:nvSpPr>
          <p:cNvPr id="6" name="Text 4"/>
          <p:cNvSpPr/>
          <p:nvPr/>
        </p:nvSpPr>
        <p:spPr>
          <a:xfrm>
            <a:off x="914400" y="2322576"/>
            <a:ext cx="4572000" cy="274320"/>
          </a:xfrm>
          <a:prstGeom prst="rect">
            <a:avLst/>
          </a:prstGeom>
          <a:noFill/>
          <a:ln/>
        </p:spPr>
        <p:txBody>
          <a:bodyPr wrap="square" rtlCol="0" anchor="ctr"/>
          <a:lstStyle/>
          <a:p>
            <a:pPr indent="0" marL="0">
              <a:buNone/>
            </a:pPr>
            <a:r>
              <a:rPr lang="en-US" sz="1050" dirty="0">
                <a:solidFill>
                  <a:srgbClr val="A9A3C2"/>
                </a:solidFill>
                <a:latin typeface="Calibri" pitchFamily="34" charset="0"/>
                <a:ea typeface="Calibri" pitchFamily="34" charset="-122"/>
                <a:cs typeface="Calibri" pitchFamily="34" charset="-120"/>
              </a:rPr>
              <a:t>70,000 grayscale images · 28×28px</a:t>
            </a:r>
            <a:endParaRPr lang="en-US" sz="1050" dirty="0"/>
          </a:p>
        </p:txBody>
      </p:sp>
      <p:sp>
        <p:nvSpPr>
          <p:cNvPr id="7" name="Text 5"/>
          <p:cNvSpPr/>
          <p:nvPr/>
        </p:nvSpPr>
        <p:spPr>
          <a:xfrm>
            <a:off x="3063240" y="2651760"/>
            <a:ext cx="274320" cy="228600"/>
          </a:xfrm>
          <a:prstGeom prst="rect">
            <a:avLst/>
          </a:prstGeom>
          <a:noFill/>
          <a:ln/>
        </p:spPr>
        <p:txBody>
          <a:bodyPr wrap="square" rtlCol="0" anchor="ctr"/>
          <a:lstStyle/>
          <a:p>
            <a:pPr algn="ctr" indent="0" marL="0">
              <a:buNone/>
            </a:pPr>
            <a:r>
              <a:rPr lang="en-US" sz="1400" dirty="0">
                <a:solidFill>
                  <a:srgbClr val="7FD8E8"/>
                </a:solidFill>
                <a:latin typeface="Calibri" pitchFamily="34" charset="0"/>
                <a:ea typeface="Calibri" pitchFamily="34" charset="-122"/>
                <a:cs typeface="Calibri" pitchFamily="34" charset="-120"/>
              </a:rPr>
              <a:t>↓</a:t>
            </a:r>
            <a:endParaRPr lang="en-US" sz="1400" dirty="0"/>
          </a:p>
        </p:txBody>
      </p:sp>
      <p:sp>
        <p:nvSpPr>
          <p:cNvPr id="8" name="Shape 6"/>
          <p:cNvSpPr/>
          <p:nvPr/>
        </p:nvSpPr>
        <p:spPr>
          <a:xfrm>
            <a:off x="640080" y="2834640"/>
            <a:ext cx="5120640" cy="749808"/>
          </a:xfrm>
          <a:prstGeom prst="roundRect">
            <a:avLst>
              <a:gd name="adj" fmla="val 9756"/>
            </a:avLst>
          </a:prstGeom>
          <a:solidFill>
            <a:srgbClr val="2C2648"/>
          </a:solidFill>
          <a:ln w="12700">
            <a:solidFill>
              <a:srgbClr val="322C4C"/>
            </a:solidFill>
            <a:prstDash val="solid"/>
          </a:ln>
        </p:spPr>
      </p:sp>
      <p:sp>
        <p:nvSpPr>
          <p:cNvPr id="9" name="Text 7"/>
          <p:cNvSpPr/>
          <p:nvPr/>
        </p:nvSpPr>
        <p:spPr>
          <a:xfrm>
            <a:off x="914400" y="2889504"/>
            <a:ext cx="457200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Conv + MaxPool layers</a:t>
            </a:r>
            <a:endParaRPr lang="en-US" sz="1400" dirty="0"/>
          </a:p>
        </p:txBody>
      </p:sp>
      <p:sp>
        <p:nvSpPr>
          <p:cNvPr id="10" name="Text 8"/>
          <p:cNvSpPr/>
          <p:nvPr/>
        </p:nvSpPr>
        <p:spPr>
          <a:xfrm>
            <a:off x="914400" y="3236976"/>
            <a:ext cx="4572000" cy="274320"/>
          </a:xfrm>
          <a:prstGeom prst="rect">
            <a:avLst/>
          </a:prstGeom>
          <a:noFill/>
          <a:ln/>
        </p:spPr>
        <p:txBody>
          <a:bodyPr wrap="square" rtlCol="0" anchor="ctr"/>
          <a:lstStyle/>
          <a:p>
            <a:pPr indent="0" marL="0">
              <a:buNone/>
            </a:pPr>
            <a:r>
              <a:rPr lang="en-US" sz="1050" dirty="0">
                <a:solidFill>
                  <a:srgbClr val="A9A3C2"/>
                </a:solidFill>
                <a:latin typeface="Calibri" pitchFamily="34" charset="0"/>
                <a:ea typeface="Calibri" pitchFamily="34" charset="-122"/>
                <a:cs typeface="Calibri" pitchFamily="34" charset="-120"/>
              </a:rPr>
              <a:t>Learn visual features</a:t>
            </a:r>
            <a:endParaRPr lang="en-US" sz="1050" dirty="0"/>
          </a:p>
        </p:txBody>
      </p:sp>
      <p:sp>
        <p:nvSpPr>
          <p:cNvPr id="11" name="Text 9"/>
          <p:cNvSpPr/>
          <p:nvPr/>
        </p:nvSpPr>
        <p:spPr>
          <a:xfrm>
            <a:off x="3063240" y="3566160"/>
            <a:ext cx="274320" cy="228600"/>
          </a:xfrm>
          <a:prstGeom prst="rect">
            <a:avLst/>
          </a:prstGeom>
          <a:noFill/>
          <a:ln/>
        </p:spPr>
        <p:txBody>
          <a:bodyPr wrap="square" rtlCol="0" anchor="ctr"/>
          <a:lstStyle/>
          <a:p>
            <a:pPr algn="ctr" indent="0" marL="0">
              <a:buNone/>
            </a:pPr>
            <a:r>
              <a:rPr lang="en-US" sz="1400" dirty="0">
                <a:solidFill>
                  <a:srgbClr val="7FD8E8"/>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640080" y="3749040"/>
            <a:ext cx="5120640" cy="749808"/>
          </a:xfrm>
          <a:prstGeom prst="roundRect">
            <a:avLst>
              <a:gd name="adj" fmla="val 9756"/>
            </a:avLst>
          </a:prstGeom>
          <a:solidFill>
            <a:srgbClr val="3A2E52"/>
          </a:solidFill>
          <a:ln w="12700">
            <a:solidFill>
              <a:srgbClr val="322C4C"/>
            </a:solidFill>
            <a:prstDash val="solid"/>
          </a:ln>
        </p:spPr>
      </p:sp>
      <p:sp>
        <p:nvSpPr>
          <p:cNvPr id="13" name="Text 11"/>
          <p:cNvSpPr/>
          <p:nvPr/>
        </p:nvSpPr>
        <p:spPr>
          <a:xfrm>
            <a:off x="914400" y="3803904"/>
            <a:ext cx="457200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Dense layers + Dropout</a:t>
            </a:r>
            <a:endParaRPr lang="en-US" sz="1400" dirty="0"/>
          </a:p>
        </p:txBody>
      </p:sp>
      <p:sp>
        <p:nvSpPr>
          <p:cNvPr id="14" name="Text 12"/>
          <p:cNvSpPr/>
          <p:nvPr/>
        </p:nvSpPr>
        <p:spPr>
          <a:xfrm>
            <a:off x="914400" y="4151376"/>
            <a:ext cx="4572000" cy="274320"/>
          </a:xfrm>
          <a:prstGeom prst="rect">
            <a:avLst/>
          </a:prstGeom>
          <a:noFill/>
          <a:ln/>
        </p:spPr>
        <p:txBody>
          <a:bodyPr wrap="square" rtlCol="0" anchor="ctr"/>
          <a:lstStyle/>
          <a:p>
            <a:pPr indent="0" marL="0">
              <a:buNone/>
            </a:pPr>
            <a:r>
              <a:rPr lang="en-US" sz="1050" dirty="0">
                <a:solidFill>
                  <a:srgbClr val="A9A3C2"/>
                </a:solidFill>
                <a:latin typeface="Calibri" pitchFamily="34" charset="0"/>
                <a:ea typeface="Calibri" pitchFamily="34" charset="-122"/>
                <a:cs typeface="Calibri" pitchFamily="34" charset="-120"/>
              </a:rPr>
              <a:t>Prevent overfitting</a:t>
            </a:r>
            <a:endParaRPr lang="en-US" sz="1050" dirty="0"/>
          </a:p>
        </p:txBody>
      </p:sp>
      <p:sp>
        <p:nvSpPr>
          <p:cNvPr id="15" name="Text 13"/>
          <p:cNvSpPr/>
          <p:nvPr/>
        </p:nvSpPr>
        <p:spPr>
          <a:xfrm>
            <a:off x="3063240" y="4480560"/>
            <a:ext cx="274320" cy="228600"/>
          </a:xfrm>
          <a:prstGeom prst="rect">
            <a:avLst/>
          </a:prstGeom>
          <a:noFill/>
          <a:ln/>
        </p:spPr>
        <p:txBody>
          <a:bodyPr wrap="square" rtlCol="0" anchor="ctr"/>
          <a:lstStyle/>
          <a:p>
            <a:pPr algn="ctr" indent="0" marL="0">
              <a:buNone/>
            </a:pPr>
            <a:r>
              <a:rPr lang="en-US" sz="1400" dirty="0">
                <a:solidFill>
                  <a:srgbClr val="7FD8E8"/>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640080" y="4663440"/>
            <a:ext cx="5120640" cy="749808"/>
          </a:xfrm>
          <a:prstGeom prst="roundRect">
            <a:avLst>
              <a:gd name="adj" fmla="val 9756"/>
            </a:avLst>
          </a:prstGeom>
          <a:solidFill>
            <a:srgbClr val="EC6FA6"/>
          </a:solidFill>
          <a:ln/>
        </p:spPr>
      </p:sp>
      <p:sp>
        <p:nvSpPr>
          <p:cNvPr id="17" name="Text 15"/>
          <p:cNvSpPr/>
          <p:nvPr/>
        </p:nvSpPr>
        <p:spPr>
          <a:xfrm>
            <a:off x="914400" y="4718304"/>
            <a:ext cx="4572000" cy="3657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Softmax output</a:t>
            </a:r>
            <a:endParaRPr lang="en-US" sz="1400" dirty="0"/>
          </a:p>
        </p:txBody>
      </p:sp>
      <p:sp>
        <p:nvSpPr>
          <p:cNvPr id="18" name="Text 16"/>
          <p:cNvSpPr/>
          <p:nvPr/>
        </p:nvSpPr>
        <p:spPr>
          <a:xfrm>
            <a:off x="914400" y="5065776"/>
            <a:ext cx="4572000" cy="274320"/>
          </a:xfrm>
          <a:prstGeom prst="rect">
            <a:avLst/>
          </a:prstGeom>
          <a:noFill/>
          <a:ln/>
        </p:spPr>
        <p:txBody>
          <a:bodyPr wrap="square" rtlCol="0" anchor="ctr"/>
          <a:lstStyle/>
          <a:p>
            <a:pPr indent="0" marL="0">
              <a:buNone/>
            </a:pPr>
            <a:r>
              <a:rPr lang="en-US" sz="1050" dirty="0">
                <a:solidFill>
                  <a:srgbClr val="FFF3F8"/>
                </a:solidFill>
                <a:latin typeface="Calibri" pitchFamily="34" charset="0"/>
                <a:ea typeface="Calibri" pitchFamily="34" charset="-122"/>
                <a:cs typeface="Calibri" pitchFamily="34" charset="-120"/>
              </a:rPr>
              <a:t>10 garment classes</a:t>
            </a:r>
            <a:endParaRPr lang="en-US" sz="1050" dirty="0"/>
          </a:p>
        </p:txBody>
      </p:sp>
      <p:sp>
        <p:nvSpPr>
          <p:cNvPr id="19" name="Shape 17"/>
          <p:cNvSpPr/>
          <p:nvPr/>
        </p:nvSpPr>
        <p:spPr>
          <a:xfrm>
            <a:off x="6400800" y="1920240"/>
            <a:ext cx="5120640" cy="4160520"/>
          </a:xfrm>
          <a:prstGeom prst="roundRect">
            <a:avLst>
              <a:gd name="adj" fmla="val 2637"/>
            </a:avLst>
          </a:prstGeom>
          <a:solidFill>
            <a:srgbClr val="1D1A2E"/>
          </a:solidFill>
          <a:ln w="12700">
            <a:solidFill>
              <a:srgbClr val="322C4C"/>
            </a:solidFill>
            <a:prstDash val="solid"/>
          </a:ln>
        </p:spPr>
      </p:sp>
      <p:sp>
        <p:nvSpPr>
          <p:cNvPr id="20" name="Text 18"/>
          <p:cNvSpPr/>
          <p:nvPr/>
        </p:nvSpPr>
        <p:spPr>
          <a:xfrm>
            <a:off x="6766560" y="2194560"/>
            <a:ext cx="4389120" cy="320040"/>
          </a:xfrm>
          <a:prstGeom prst="rect">
            <a:avLst/>
          </a:prstGeom>
          <a:noFill/>
          <a:ln/>
        </p:spPr>
        <p:txBody>
          <a:bodyPr wrap="square" rtlCol="0" anchor="ctr"/>
          <a:lstStyle/>
          <a:p>
            <a:pPr indent="0" marL="0">
              <a:buNone/>
            </a:pPr>
            <a:r>
              <a:rPr lang="en-US" sz="1200" b="1" spc="200" kern="0" dirty="0">
                <a:solidFill>
                  <a:srgbClr val="7FD8E8"/>
                </a:solidFill>
                <a:latin typeface="Calibri" pitchFamily="34" charset="0"/>
                <a:ea typeface="Calibri" pitchFamily="34" charset="-122"/>
                <a:cs typeface="Calibri" pitchFamily="34" charset="-120"/>
              </a:rPr>
              <a:t>EVALUATED PROPERLY</a:t>
            </a:r>
            <a:endParaRPr lang="en-US" sz="1200" dirty="0"/>
          </a:p>
        </p:txBody>
      </p:sp>
      <p:sp>
        <p:nvSpPr>
          <p:cNvPr id="21" name="Text 19"/>
          <p:cNvSpPr/>
          <p:nvPr/>
        </p:nvSpPr>
        <p:spPr>
          <a:xfrm>
            <a:off x="6766560" y="2514600"/>
            <a:ext cx="4389120" cy="77724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[test accuracy]%</a:t>
            </a:r>
            <a:endParaRPr lang="en-US" sz="4400" dirty="0"/>
          </a:p>
        </p:txBody>
      </p:sp>
      <p:sp>
        <p:nvSpPr>
          <p:cNvPr id="22" name="Text 20"/>
          <p:cNvSpPr/>
          <p:nvPr/>
        </p:nvSpPr>
        <p:spPr>
          <a:xfrm>
            <a:off x="6766560" y="3246120"/>
            <a:ext cx="4389120" cy="274320"/>
          </a:xfrm>
          <a:prstGeom prst="rect">
            <a:avLst/>
          </a:prstGeom>
          <a:noFill/>
          <a:ln/>
        </p:spPr>
        <p:txBody>
          <a:bodyPr wrap="square" rtlCol="0" anchor="ctr"/>
          <a:lstStyle/>
          <a:p>
            <a:pPr indent="0" marL="0">
              <a:buNone/>
            </a:pPr>
            <a:r>
              <a:rPr lang="en-US" sz="1150" i="1" dirty="0">
                <a:solidFill>
                  <a:srgbClr val="A9A3C2"/>
                </a:solidFill>
                <a:latin typeface="Calibri" pitchFamily="34" charset="0"/>
                <a:ea typeface="Calibri" pitchFamily="34" charset="-122"/>
                <a:cs typeface="Calibri" pitchFamily="34" charset="-120"/>
              </a:rPr>
              <a:t>test-set accuracy</a:t>
            </a:r>
            <a:endParaRPr lang="en-US" sz="1150" dirty="0"/>
          </a:p>
        </p:txBody>
      </p:sp>
      <p:sp>
        <p:nvSpPr>
          <p:cNvPr id="23" name="Shape 21"/>
          <p:cNvSpPr/>
          <p:nvPr/>
        </p:nvSpPr>
        <p:spPr>
          <a:xfrm>
            <a:off x="6766560" y="3822192"/>
            <a:ext cx="82296" cy="82296"/>
          </a:xfrm>
          <a:prstGeom prst="ellipse">
            <a:avLst/>
          </a:prstGeom>
          <a:solidFill>
            <a:srgbClr val="F48FB1"/>
          </a:solidFill>
          <a:ln/>
        </p:spPr>
      </p:sp>
      <p:sp>
        <p:nvSpPr>
          <p:cNvPr id="24" name="Text 22"/>
          <p:cNvSpPr/>
          <p:nvPr/>
        </p:nvSpPr>
        <p:spPr>
          <a:xfrm>
            <a:off x="6995160" y="3703320"/>
            <a:ext cx="4160520" cy="685800"/>
          </a:xfrm>
          <a:prstGeom prst="rect">
            <a:avLst/>
          </a:prstGeom>
          <a:noFill/>
          <a:ln/>
        </p:spPr>
        <p:txBody>
          <a:bodyPr wrap="square" rtlCol="0" anchor="t"/>
          <a:lstStyle/>
          <a:p>
            <a:pPr indent="0" marL="0">
              <a:lnSpc>
                <a:spcPct val="115000"/>
              </a:lnSpc>
              <a:buNone/>
            </a:pPr>
            <a:r>
              <a:rPr lang="en-US" sz="1250" dirty="0">
                <a:solidFill>
                  <a:srgbClr val="A9A3C2"/>
                </a:solidFill>
                <a:latin typeface="Calibri" pitchFamily="34" charset="0"/>
                <a:ea typeface="Calibri" pitchFamily="34" charset="-122"/>
                <a:cs typeface="Calibri" pitchFamily="34" charset="-120"/>
              </a:rPr>
              <a:t>Confusion matrix across all 10 classes</a:t>
            </a:r>
            <a:endParaRPr lang="en-US" sz="1250" dirty="0"/>
          </a:p>
        </p:txBody>
      </p:sp>
      <p:sp>
        <p:nvSpPr>
          <p:cNvPr id="25" name="Shape 23"/>
          <p:cNvSpPr/>
          <p:nvPr/>
        </p:nvSpPr>
        <p:spPr>
          <a:xfrm>
            <a:off x="6766560" y="4599432"/>
            <a:ext cx="82296" cy="82296"/>
          </a:xfrm>
          <a:prstGeom prst="ellipse">
            <a:avLst/>
          </a:prstGeom>
          <a:solidFill>
            <a:srgbClr val="F48FB1"/>
          </a:solidFill>
          <a:ln/>
        </p:spPr>
      </p:sp>
      <p:sp>
        <p:nvSpPr>
          <p:cNvPr id="26" name="Text 24"/>
          <p:cNvSpPr/>
          <p:nvPr/>
        </p:nvSpPr>
        <p:spPr>
          <a:xfrm>
            <a:off x="6995160" y="4480560"/>
            <a:ext cx="4160520" cy="685800"/>
          </a:xfrm>
          <a:prstGeom prst="rect">
            <a:avLst/>
          </a:prstGeom>
          <a:noFill/>
          <a:ln/>
        </p:spPr>
        <p:txBody>
          <a:bodyPr wrap="square" rtlCol="0" anchor="t"/>
          <a:lstStyle/>
          <a:p>
            <a:pPr indent="0" marL="0">
              <a:lnSpc>
                <a:spcPct val="115000"/>
              </a:lnSpc>
              <a:buNone/>
            </a:pPr>
            <a:r>
              <a:rPr lang="en-US" sz="1250" dirty="0">
                <a:solidFill>
                  <a:srgbClr val="A9A3C2"/>
                </a:solidFill>
                <a:latin typeface="Calibri" pitchFamily="34" charset="0"/>
                <a:ea typeface="Calibri" pitchFamily="34" charset="-122"/>
                <a:cs typeface="Calibri" pitchFamily="34" charset="-120"/>
              </a:rPr>
              <a:t>Feature-map visualizations of learned filters</a:t>
            </a:r>
            <a:endParaRPr lang="en-US" sz="1250" dirty="0"/>
          </a:p>
        </p:txBody>
      </p:sp>
      <p:sp>
        <p:nvSpPr>
          <p:cNvPr id="27" name="Shape 25"/>
          <p:cNvSpPr/>
          <p:nvPr/>
        </p:nvSpPr>
        <p:spPr>
          <a:xfrm>
            <a:off x="6766560" y="5376672"/>
            <a:ext cx="82296" cy="82296"/>
          </a:xfrm>
          <a:prstGeom prst="ellipse">
            <a:avLst/>
          </a:prstGeom>
          <a:solidFill>
            <a:srgbClr val="F48FB1"/>
          </a:solidFill>
          <a:ln/>
        </p:spPr>
      </p:sp>
      <p:sp>
        <p:nvSpPr>
          <p:cNvPr id="28" name="Text 26"/>
          <p:cNvSpPr/>
          <p:nvPr/>
        </p:nvSpPr>
        <p:spPr>
          <a:xfrm>
            <a:off x="6995160" y="5257800"/>
            <a:ext cx="4160520" cy="685800"/>
          </a:xfrm>
          <a:prstGeom prst="rect">
            <a:avLst/>
          </a:prstGeom>
          <a:noFill/>
          <a:ln/>
        </p:spPr>
        <p:txBody>
          <a:bodyPr wrap="square" rtlCol="0" anchor="t"/>
          <a:lstStyle/>
          <a:p>
            <a:pPr indent="0" marL="0">
              <a:lnSpc>
                <a:spcPct val="115000"/>
              </a:lnSpc>
              <a:buNone/>
            </a:pPr>
            <a:r>
              <a:rPr lang="en-US" sz="1250" dirty="0">
                <a:solidFill>
                  <a:srgbClr val="A9A3C2"/>
                </a:solidFill>
                <a:latin typeface="Calibri" pitchFamily="34" charset="0"/>
                <a:ea typeface="Calibri" pitchFamily="34" charset="-122"/>
                <a:cs typeface="Calibri" pitchFamily="34" charset="-120"/>
              </a:rPr>
              <a:t>Main confusion: shirts vs. coats vs. pullovers — visually similar even to humans at 28×28</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111F"/>
        </a:solidFill>
      </p:bgPr>
    </p:bg>
    <p:spTree>
      <p:nvGrpSpPr>
        <p:cNvPr id="1" name=""/>
        <p:cNvGrpSpPr/>
        <p:nvPr/>
      </p:nvGrpSpPr>
      <p:grpSpPr>
        <a:xfrm>
          <a:off x="0" y="0"/>
          <a:ext cx="0" cy="0"/>
          <a:chOff x="0" y="0"/>
          <a:chExt cx="0" cy="0"/>
        </a:xfrm>
      </p:grpSpPr>
      <p:sp>
        <p:nvSpPr>
          <p:cNvPr id="2" name="Text 0"/>
          <p:cNvSpPr/>
          <p:nvPr/>
        </p:nvSpPr>
        <p:spPr>
          <a:xfrm>
            <a:off x="640080" y="502920"/>
            <a:ext cx="5486400" cy="365760"/>
          </a:xfrm>
          <a:prstGeom prst="rect">
            <a:avLst/>
          </a:prstGeom>
          <a:noFill/>
          <a:ln/>
        </p:spPr>
        <p:txBody>
          <a:bodyPr wrap="square" rtlCol="0" anchor="ctr"/>
          <a:lstStyle/>
          <a:p>
            <a:pPr indent="0" marL="0">
              <a:buNone/>
            </a:pPr>
            <a:r>
              <a:rPr lang="en-US" sz="1300" b="1" spc="300" kern="0" dirty="0">
                <a:solidFill>
                  <a:srgbClr val="F48FB1"/>
                </a:solidFill>
                <a:latin typeface="Calibri" pitchFamily="34" charset="0"/>
                <a:ea typeface="Calibri" pitchFamily="34" charset="-122"/>
                <a:cs typeface="Calibri" pitchFamily="34" charset="-120"/>
              </a:rPr>
              <a:t>THE PIVOT</a:t>
            </a:r>
            <a:endParaRPr lang="en-US" sz="1300" dirty="0"/>
          </a:p>
        </p:txBody>
      </p:sp>
      <p:sp>
        <p:nvSpPr>
          <p:cNvPr id="3" name="Text 1"/>
          <p:cNvSpPr/>
          <p:nvPr/>
        </p:nvSpPr>
        <p:spPr>
          <a:xfrm>
            <a:off x="640080" y="822960"/>
            <a:ext cx="1051560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The right model for each part of the problem</a:t>
            </a:r>
            <a:endParaRPr lang="en-US" sz="2800" dirty="0"/>
          </a:p>
        </p:txBody>
      </p:sp>
      <p:sp>
        <p:nvSpPr>
          <p:cNvPr id="4" name="Text 2"/>
          <p:cNvSpPr/>
          <p:nvPr/>
        </p:nvSpPr>
        <p:spPr>
          <a:xfrm>
            <a:off x="640080" y="1691640"/>
            <a:ext cx="10515600" cy="457200"/>
          </a:xfrm>
          <a:prstGeom prst="rect">
            <a:avLst/>
          </a:prstGeom>
          <a:noFill/>
          <a:ln/>
        </p:spPr>
        <p:txBody>
          <a:bodyPr wrap="square" rtlCol="0" anchor="ctr"/>
          <a:lstStyle/>
          <a:p>
            <a:pPr indent="0" marL="0">
              <a:buNone/>
            </a:pPr>
            <a:r>
              <a:rPr lang="en-US" sz="1400" i="1" dirty="0">
                <a:solidFill>
                  <a:srgbClr val="A9A3C2"/>
                </a:solidFill>
                <a:latin typeface="Calibri" pitchFamily="34" charset="0"/>
                <a:ea typeface="Calibri" pitchFamily="34" charset="-122"/>
                <a:cs typeface="Calibri" pitchFamily="34" charset="-120"/>
              </a:rPr>
              <a:t>Fashion-MNIST is grayscale, 28×28 — no color information, and it won't generalize to real photos.</a:t>
            </a:r>
            <a:endParaRPr lang="en-US" sz="1400" dirty="0"/>
          </a:p>
        </p:txBody>
      </p:sp>
      <p:sp>
        <p:nvSpPr>
          <p:cNvPr id="5" name="Shape 3"/>
          <p:cNvSpPr/>
          <p:nvPr/>
        </p:nvSpPr>
        <p:spPr>
          <a:xfrm>
            <a:off x="640080" y="2377440"/>
            <a:ext cx="5257800" cy="3566160"/>
          </a:xfrm>
          <a:prstGeom prst="roundRect">
            <a:avLst>
              <a:gd name="adj" fmla="val 3077"/>
            </a:avLst>
          </a:prstGeom>
          <a:solidFill>
            <a:srgbClr val="1D1A2E"/>
          </a:solidFill>
          <a:ln w="12700">
            <a:solidFill>
              <a:srgbClr val="322C4C"/>
            </a:solidFill>
            <a:prstDash val="solid"/>
          </a:ln>
        </p:spPr>
      </p:sp>
      <p:sp>
        <p:nvSpPr>
          <p:cNvPr id="6" name="Shape 4"/>
          <p:cNvSpPr/>
          <p:nvPr/>
        </p:nvSpPr>
        <p:spPr>
          <a:xfrm>
            <a:off x="640080" y="2377440"/>
            <a:ext cx="5257800" cy="457200"/>
          </a:xfrm>
          <a:prstGeom prst="roundRect">
            <a:avLst>
              <a:gd name="adj" fmla="val 24000"/>
            </a:avLst>
          </a:prstGeom>
          <a:solidFill>
            <a:srgbClr val="7FD8E8"/>
          </a:solidFill>
          <a:ln/>
        </p:spPr>
      </p:sp>
      <p:sp>
        <p:nvSpPr>
          <p:cNvPr id="7" name="Shape 5"/>
          <p:cNvSpPr/>
          <p:nvPr/>
        </p:nvSpPr>
        <p:spPr>
          <a:xfrm>
            <a:off x="640080" y="2606040"/>
            <a:ext cx="5257800" cy="228600"/>
          </a:xfrm>
          <a:prstGeom prst="rect">
            <a:avLst/>
          </a:prstGeom>
          <a:solidFill>
            <a:srgbClr val="7FD8E8"/>
          </a:solidFill>
          <a:ln/>
        </p:spPr>
      </p:sp>
      <p:sp>
        <p:nvSpPr>
          <p:cNvPr id="8" name="Text 6"/>
          <p:cNvSpPr/>
          <p:nvPr/>
        </p:nvSpPr>
        <p:spPr>
          <a:xfrm>
            <a:off x="914400" y="2377440"/>
            <a:ext cx="4709160" cy="457200"/>
          </a:xfrm>
          <a:prstGeom prst="rect">
            <a:avLst/>
          </a:prstGeom>
          <a:noFill/>
          <a:ln/>
        </p:spPr>
        <p:txBody>
          <a:bodyPr wrap="square" rtlCol="0" anchor="ctr"/>
          <a:lstStyle/>
          <a:p>
            <a:pPr indent="0" marL="0">
              <a:buNone/>
            </a:pPr>
            <a:r>
              <a:rPr lang="en-US" sz="1150" b="1" spc="200" kern="0" dirty="0">
                <a:solidFill>
                  <a:srgbClr val="13111F"/>
                </a:solidFill>
                <a:latin typeface="Calibri" pitchFamily="34" charset="0"/>
                <a:ea typeface="Calibri" pitchFamily="34" charset="-122"/>
                <a:cs typeface="Calibri" pitchFamily="34" charset="-120"/>
              </a:rPr>
              <a:t>EVALUATED MODEL</a:t>
            </a:r>
            <a:endParaRPr lang="en-US" sz="1150" dirty="0"/>
          </a:p>
        </p:txBody>
      </p:sp>
      <p:sp>
        <p:nvSpPr>
          <p:cNvPr id="9" name="Text 7"/>
          <p:cNvSpPr/>
          <p:nvPr/>
        </p:nvSpPr>
        <p:spPr>
          <a:xfrm>
            <a:off x="914400" y="2999232"/>
            <a:ext cx="4709160" cy="50292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CNN (from scratch)</a:t>
            </a:r>
            <a:endParaRPr lang="en-US" sz="2000" dirty="0"/>
          </a:p>
        </p:txBody>
      </p:sp>
      <p:sp>
        <p:nvSpPr>
          <p:cNvPr id="10" name="Shape 8"/>
          <p:cNvSpPr/>
          <p:nvPr/>
        </p:nvSpPr>
        <p:spPr>
          <a:xfrm>
            <a:off x="914400" y="3739896"/>
            <a:ext cx="73152" cy="73152"/>
          </a:xfrm>
          <a:prstGeom prst="ellipse">
            <a:avLst/>
          </a:prstGeom>
          <a:solidFill>
            <a:srgbClr val="7FD8E8"/>
          </a:solidFill>
          <a:ln/>
        </p:spPr>
      </p:sp>
      <p:sp>
        <p:nvSpPr>
          <p:cNvPr id="11" name="Text 9"/>
          <p:cNvSpPr/>
          <p:nvPr/>
        </p:nvSpPr>
        <p:spPr>
          <a:xfrm>
            <a:off x="1143000" y="3639312"/>
            <a:ext cx="4480560" cy="548640"/>
          </a:xfrm>
          <a:prstGeom prst="rect">
            <a:avLst/>
          </a:prstGeom>
          <a:noFill/>
          <a:ln/>
        </p:spPr>
        <p:txBody>
          <a:bodyPr wrap="square" rtlCol="0" anchor="t"/>
          <a:lstStyle/>
          <a:p>
            <a:pPr indent="0" marL="0">
              <a:lnSpc>
                <a:spcPct val="115000"/>
              </a:lnSpc>
              <a:buNone/>
            </a:pPr>
            <a:r>
              <a:rPr lang="en-US" sz="1250" dirty="0">
                <a:solidFill>
                  <a:srgbClr val="A9A3C2"/>
                </a:solidFill>
                <a:latin typeface="Calibri" pitchFamily="34" charset="0"/>
                <a:ea typeface="Calibri" pitchFamily="34" charset="-122"/>
                <a:cs typeface="Calibri" pitchFamily="34" charset="-120"/>
              </a:rPr>
              <a:t>Trained + evaluated on Fashion-MNIST</a:t>
            </a:r>
            <a:endParaRPr lang="en-US" sz="1250" dirty="0"/>
          </a:p>
        </p:txBody>
      </p:sp>
      <p:sp>
        <p:nvSpPr>
          <p:cNvPr id="12" name="Shape 10"/>
          <p:cNvSpPr/>
          <p:nvPr/>
        </p:nvSpPr>
        <p:spPr>
          <a:xfrm>
            <a:off x="914400" y="4361688"/>
            <a:ext cx="73152" cy="73152"/>
          </a:xfrm>
          <a:prstGeom prst="ellipse">
            <a:avLst/>
          </a:prstGeom>
          <a:solidFill>
            <a:srgbClr val="7FD8E8"/>
          </a:solidFill>
          <a:ln/>
        </p:spPr>
      </p:sp>
      <p:sp>
        <p:nvSpPr>
          <p:cNvPr id="13" name="Text 11"/>
          <p:cNvSpPr/>
          <p:nvPr/>
        </p:nvSpPr>
        <p:spPr>
          <a:xfrm>
            <a:off x="1143000" y="4261104"/>
            <a:ext cx="4480560" cy="548640"/>
          </a:xfrm>
          <a:prstGeom prst="rect">
            <a:avLst/>
          </a:prstGeom>
          <a:noFill/>
          <a:ln/>
        </p:spPr>
        <p:txBody>
          <a:bodyPr wrap="square" rtlCol="0" anchor="t"/>
          <a:lstStyle/>
          <a:p>
            <a:pPr indent="0" marL="0">
              <a:lnSpc>
                <a:spcPct val="115000"/>
              </a:lnSpc>
              <a:buNone/>
            </a:pPr>
            <a:r>
              <a:rPr lang="en-US" sz="1250" dirty="0">
                <a:solidFill>
                  <a:srgbClr val="A9A3C2"/>
                </a:solidFill>
                <a:latin typeface="Calibri" pitchFamily="34" charset="0"/>
                <a:ea typeface="Calibri" pitchFamily="34" charset="-122"/>
                <a:cs typeface="Calibri" pitchFamily="34" charset="-120"/>
              </a:rPr>
              <a:t>Confusion matrix, feature maps, accuracy</a:t>
            </a:r>
            <a:endParaRPr lang="en-US" sz="1250" dirty="0"/>
          </a:p>
        </p:txBody>
      </p:sp>
      <p:sp>
        <p:nvSpPr>
          <p:cNvPr id="14" name="Shape 12"/>
          <p:cNvSpPr/>
          <p:nvPr/>
        </p:nvSpPr>
        <p:spPr>
          <a:xfrm>
            <a:off x="914400" y="4983480"/>
            <a:ext cx="73152" cy="73152"/>
          </a:xfrm>
          <a:prstGeom prst="ellipse">
            <a:avLst/>
          </a:prstGeom>
          <a:solidFill>
            <a:srgbClr val="7FD8E8"/>
          </a:solidFill>
          <a:ln/>
        </p:spPr>
      </p:sp>
      <p:sp>
        <p:nvSpPr>
          <p:cNvPr id="15" name="Text 13"/>
          <p:cNvSpPr/>
          <p:nvPr/>
        </p:nvSpPr>
        <p:spPr>
          <a:xfrm>
            <a:off x="1143000" y="4882896"/>
            <a:ext cx="4480560" cy="548640"/>
          </a:xfrm>
          <a:prstGeom prst="rect">
            <a:avLst/>
          </a:prstGeom>
          <a:noFill/>
          <a:ln/>
        </p:spPr>
        <p:txBody>
          <a:bodyPr wrap="square" rtlCol="0" anchor="t"/>
          <a:lstStyle/>
          <a:p>
            <a:pPr indent="0" marL="0">
              <a:lnSpc>
                <a:spcPct val="115000"/>
              </a:lnSpc>
              <a:buNone/>
            </a:pPr>
            <a:r>
              <a:rPr lang="en-US" sz="1250" dirty="0">
                <a:solidFill>
                  <a:srgbClr val="A9A3C2"/>
                </a:solidFill>
                <a:latin typeface="Calibri" pitchFamily="34" charset="0"/>
                <a:ea typeface="Calibri" pitchFamily="34" charset="-122"/>
                <a:cs typeface="Calibri" pitchFamily="34" charset="-120"/>
              </a:rPr>
              <a:t>Demonstrates training fundamentals</a:t>
            </a:r>
            <a:endParaRPr lang="en-US" sz="1250" dirty="0"/>
          </a:p>
        </p:txBody>
      </p:sp>
      <p:sp>
        <p:nvSpPr>
          <p:cNvPr id="16" name="Shape 14"/>
          <p:cNvSpPr/>
          <p:nvPr/>
        </p:nvSpPr>
        <p:spPr>
          <a:xfrm>
            <a:off x="6355080" y="2377440"/>
            <a:ext cx="5257800" cy="3566160"/>
          </a:xfrm>
          <a:prstGeom prst="roundRect">
            <a:avLst>
              <a:gd name="adj" fmla="val 3077"/>
            </a:avLst>
          </a:prstGeom>
          <a:solidFill>
            <a:srgbClr val="1D1A2E"/>
          </a:solidFill>
          <a:ln w="12700">
            <a:solidFill>
              <a:srgbClr val="322C4C"/>
            </a:solidFill>
            <a:prstDash val="solid"/>
          </a:ln>
        </p:spPr>
      </p:sp>
      <p:sp>
        <p:nvSpPr>
          <p:cNvPr id="17" name="Shape 15"/>
          <p:cNvSpPr/>
          <p:nvPr/>
        </p:nvSpPr>
        <p:spPr>
          <a:xfrm>
            <a:off x="6355080" y="2377440"/>
            <a:ext cx="5257800" cy="457200"/>
          </a:xfrm>
          <a:prstGeom prst="roundRect">
            <a:avLst>
              <a:gd name="adj" fmla="val 24000"/>
            </a:avLst>
          </a:prstGeom>
          <a:solidFill>
            <a:srgbClr val="EC6FA6"/>
          </a:solidFill>
          <a:ln/>
        </p:spPr>
      </p:sp>
      <p:sp>
        <p:nvSpPr>
          <p:cNvPr id="18" name="Shape 16"/>
          <p:cNvSpPr/>
          <p:nvPr/>
        </p:nvSpPr>
        <p:spPr>
          <a:xfrm>
            <a:off x="6355080" y="2606040"/>
            <a:ext cx="5257800" cy="228600"/>
          </a:xfrm>
          <a:prstGeom prst="rect">
            <a:avLst/>
          </a:prstGeom>
          <a:solidFill>
            <a:srgbClr val="EC6FA6"/>
          </a:solidFill>
          <a:ln/>
        </p:spPr>
      </p:sp>
      <p:sp>
        <p:nvSpPr>
          <p:cNvPr id="19" name="Text 17"/>
          <p:cNvSpPr/>
          <p:nvPr/>
        </p:nvSpPr>
        <p:spPr>
          <a:xfrm>
            <a:off x="6629400" y="2377440"/>
            <a:ext cx="4709160" cy="457200"/>
          </a:xfrm>
          <a:prstGeom prst="rect">
            <a:avLst/>
          </a:prstGeom>
          <a:noFill/>
          <a:ln/>
        </p:spPr>
        <p:txBody>
          <a:bodyPr wrap="square" rtlCol="0" anchor="ctr"/>
          <a:lstStyle/>
          <a:p>
            <a:pPr indent="0" marL="0">
              <a:buNone/>
            </a:pPr>
            <a:r>
              <a:rPr lang="en-US" sz="1150" b="1" spc="200" kern="0" dirty="0">
                <a:solidFill>
                  <a:srgbClr val="13111F"/>
                </a:solidFill>
                <a:latin typeface="Calibri" pitchFamily="34" charset="0"/>
                <a:ea typeface="Calibri" pitchFamily="34" charset="-122"/>
                <a:cs typeface="Calibri" pitchFamily="34" charset="-120"/>
              </a:rPr>
              <a:t>LIVE DEMO</a:t>
            </a:r>
            <a:endParaRPr lang="en-US" sz="1150" dirty="0"/>
          </a:p>
        </p:txBody>
      </p:sp>
      <p:sp>
        <p:nvSpPr>
          <p:cNvPr id="20" name="Text 18"/>
          <p:cNvSpPr/>
          <p:nvPr/>
        </p:nvSpPr>
        <p:spPr>
          <a:xfrm>
            <a:off x="6629400" y="2999232"/>
            <a:ext cx="4709160" cy="502920"/>
          </a:xfrm>
          <a:prstGeom prst="rect">
            <a:avLst/>
          </a:prstGeom>
          <a:noFill/>
          <a:ln/>
        </p:spPr>
        <p:txBody>
          <a:bodyPr wrap="square"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CLIP (zero-shot)</a:t>
            </a:r>
            <a:endParaRPr lang="en-US" sz="2000" dirty="0"/>
          </a:p>
        </p:txBody>
      </p:sp>
      <p:sp>
        <p:nvSpPr>
          <p:cNvPr id="21" name="Shape 19"/>
          <p:cNvSpPr/>
          <p:nvPr/>
        </p:nvSpPr>
        <p:spPr>
          <a:xfrm>
            <a:off x="6629400" y="3739896"/>
            <a:ext cx="73152" cy="73152"/>
          </a:xfrm>
          <a:prstGeom prst="ellipse">
            <a:avLst/>
          </a:prstGeom>
          <a:solidFill>
            <a:srgbClr val="EC6FA6"/>
          </a:solidFill>
          <a:ln/>
        </p:spPr>
      </p:sp>
      <p:sp>
        <p:nvSpPr>
          <p:cNvPr id="22" name="Text 20"/>
          <p:cNvSpPr/>
          <p:nvPr/>
        </p:nvSpPr>
        <p:spPr>
          <a:xfrm>
            <a:off x="6858000" y="3639312"/>
            <a:ext cx="4480560" cy="548640"/>
          </a:xfrm>
          <a:prstGeom prst="rect">
            <a:avLst/>
          </a:prstGeom>
          <a:noFill/>
          <a:ln/>
        </p:spPr>
        <p:txBody>
          <a:bodyPr wrap="square" rtlCol="0" anchor="t"/>
          <a:lstStyle/>
          <a:p>
            <a:pPr indent="0" marL="0">
              <a:lnSpc>
                <a:spcPct val="115000"/>
              </a:lnSpc>
              <a:buNone/>
            </a:pPr>
            <a:r>
              <a:rPr lang="en-US" sz="1250" dirty="0">
                <a:solidFill>
                  <a:srgbClr val="A9A3C2"/>
                </a:solidFill>
                <a:latin typeface="Calibri" pitchFamily="34" charset="0"/>
                <a:ea typeface="Calibri" pitchFamily="34" charset="-122"/>
                <a:cs typeface="Calibri" pitchFamily="34" charset="-120"/>
              </a:rPr>
              <a:t>Works directly on real color photos</a:t>
            </a:r>
            <a:endParaRPr lang="en-US" sz="1250" dirty="0"/>
          </a:p>
        </p:txBody>
      </p:sp>
      <p:sp>
        <p:nvSpPr>
          <p:cNvPr id="23" name="Shape 21"/>
          <p:cNvSpPr/>
          <p:nvPr/>
        </p:nvSpPr>
        <p:spPr>
          <a:xfrm>
            <a:off x="6629400" y="4361688"/>
            <a:ext cx="73152" cy="73152"/>
          </a:xfrm>
          <a:prstGeom prst="ellipse">
            <a:avLst/>
          </a:prstGeom>
          <a:solidFill>
            <a:srgbClr val="EC6FA6"/>
          </a:solidFill>
          <a:ln/>
        </p:spPr>
      </p:sp>
      <p:sp>
        <p:nvSpPr>
          <p:cNvPr id="24" name="Text 22"/>
          <p:cNvSpPr/>
          <p:nvPr/>
        </p:nvSpPr>
        <p:spPr>
          <a:xfrm>
            <a:off x="6858000" y="4261104"/>
            <a:ext cx="4480560" cy="548640"/>
          </a:xfrm>
          <a:prstGeom prst="rect">
            <a:avLst/>
          </a:prstGeom>
          <a:noFill/>
          <a:ln/>
        </p:spPr>
        <p:txBody>
          <a:bodyPr wrap="square" rtlCol="0" anchor="t"/>
          <a:lstStyle/>
          <a:p>
            <a:pPr indent="0" marL="0">
              <a:lnSpc>
                <a:spcPct val="115000"/>
              </a:lnSpc>
              <a:buNone/>
            </a:pPr>
            <a:r>
              <a:rPr lang="en-US" sz="1250" dirty="0">
                <a:solidFill>
                  <a:srgbClr val="A9A3C2"/>
                </a:solidFill>
                <a:latin typeface="Calibri" pitchFamily="34" charset="0"/>
                <a:ea typeface="Calibri" pitchFamily="34" charset="-122"/>
                <a:cs typeface="Calibri" pitchFamily="34" charset="-120"/>
              </a:rPr>
              <a:t>No extra training required</a:t>
            </a:r>
            <a:endParaRPr lang="en-US" sz="1250" dirty="0"/>
          </a:p>
        </p:txBody>
      </p:sp>
      <p:sp>
        <p:nvSpPr>
          <p:cNvPr id="25" name="Shape 23"/>
          <p:cNvSpPr/>
          <p:nvPr/>
        </p:nvSpPr>
        <p:spPr>
          <a:xfrm>
            <a:off x="6629400" y="4983480"/>
            <a:ext cx="73152" cy="73152"/>
          </a:xfrm>
          <a:prstGeom prst="ellipse">
            <a:avLst/>
          </a:prstGeom>
          <a:solidFill>
            <a:srgbClr val="EC6FA6"/>
          </a:solidFill>
          <a:ln/>
        </p:spPr>
      </p:sp>
      <p:sp>
        <p:nvSpPr>
          <p:cNvPr id="26" name="Text 24"/>
          <p:cNvSpPr/>
          <p:nvPr/>
        </p:nvSpPr>
        <p:spPr>
          <a:xfrm>
            <a:off x="6858000" y="4882896"/>
            <a:ext cx="4480560" cy="548640"/>
          </a:xfrm>
          <a:prstGeom prst="rect">
            <a:avLst/>
          </a:prstGeom>
          <a:noFill/>
          <a:ln/>
        </p:spPr>
        <p:txBody>
          <a:bodyPr wrap="square" rtlCol="0" anchor="t"/>
          <a:lstStyle/>
          <a:p>
            <a:pPr indent="0" marL="0">
              <a:lnSpc>
                <a:spcPct val="115000"/>
              </a:lnSpc>
              <a:buNone/>
            </a:pPr>
            <a:r>
              <a:rPr lang="en-US" sz="1250" dirty="0">
                <a:solidFill>
                  <a:srgbClr val="A9A3C2"/>
                </a:solidFill>
                <a:latin typeface="Calibri" pitchFamily="34" charset="0"/>
                <a:ea typeface="Calibri" pitchFamily="34" charset="-122"/>
                <a:cs typeface="Calibri" pitchFamily="34" charset="-120"/>
              </a:rPr>
              <a:t>Powers garment detection in the app</a:t>
            </a:r>
            <a:endParaRPr lang="en-US" sz="1250" dirty="0"/>
          </a:p>
        </p:txBody>
      </p:sp>
      <p:sp>
        <p:nvSpPr>
          <p:cNvPr id="27" name="Text 25"/>
          <p:cNvSpPr/>
          <p:nvPr/>
        </p:nvSpPr>
        <p:spPr>
          <a:xfrm>
            <a:off x="640080" y="6080760"/>
            <a:ext cx="10515600" cy="365760"/>
          </a:xfrm>
          <a:prstGeom prst="rect">
            <a:avLst/>
          </a:prstGeom>
          <a:noFill/>
          <a:ln/>
        </p:spPr>
        <p:txBody>
          <a:bodyPr wrap="square" rtlCol="0" anchor="ctr"/>
          <a:lstStyle/>
          <a:p>
            <a:pPr algn="ctr" indent="0" marL="0">
              <a:buNone/>
            </a:pPr>
            <a:r>
              <a:rPr lang="en-US" sz="1300" i="1" dirty="0">
                <a:solidFill>
                  <a:srgbClr val="7FD8E8"/>
                </a:solidFill>
                <a:latin typeface="Calibri" pitchFamily="34" charset="0"/>
                <a:ea typeface="Calibri" pitchFamily="34" charset="-122"/>
                <a:cs typeface="Calibri" pitchFamily="34" charset="-120"/>
              </a:rPr>
              <a:t>A deliberate, honest engineering choice — not a shortcut.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3111F"/>
        </a:solidFill>
      </p:bgPr>
    </p:bg>
    <p:spTree>
      <p:nvGrpSpPr>
        <p:cNvPr id="1" name=""/>
        <p:cNvGrpSpPr/>
        <p:nvPr/>
      </p:nvGrpSpPr>
      <p:grpSpPr>
        <a:xfrm>
          <a:off x="0" y="0"/>
          <a:ext cx="0" cy="0"/>
          <a:chOff x="0" y="0"/>
          <a:chExt cx="0" cy="0"/>
        </a:xfrm>
      </p:grpSpPr>
      <p:sp>
        <p:nvSpPr>
          <p:cNvPr id="2" name="Text 0"/>
          <p:cNvSpPr/>
          <p:nvPr/>
        </p:nvSpPr>
        <p:spPr>
          <a:xfrm>
            <a:off x="640080" y="502920"/>
            <a:ext cx="7315200" cy="365760"/>
          </a:xfrm>
          <a:prstGeom prst="rect">
            <a:avLst/>
          </a:prstGeom>
          <a:noFill/>
          <a:ln/>
        </p:spPr>
        <p:txBody>
          <a:bodyPr wrap="square" rtlCol="0" anchor="ctr"/>
          <a:lstStyle/>
          <a:p>
            <a:pPr indent="0" marL="0">
              <a:buNone/>
            </a:pPr>
            <a:r>
              <a:rPr lang="en-US" sz="1300" b="1" spc="300" kern="0" dirty="0">
                <a:solidFill>
                  <a:srgbClr val="F48FB1"/>
                </a:solidFill>
                <a:latin typeface="Calibri" pitchFamily="34" charset="0"/>
                <a:ea typeface="Calibri" pitchFamily="34" charset="-122"/>
                <a:cs typeface="Calibri" pitchFamily="34" charset="-120"/>
              </a:rPr>
              <a:t>PART TWO — THE APPLICATION</a:t>
            </a:r>
            <a:endParaRPr lang="en-US" sz="1300" dirty="0"/>
          </a:p>
        </p:txBody>
      </p:sp>
      <p:sp>
        <p:nvSpPr>
          <p:cNvPr id="3" name="Text 1"/>
          <p:cNvSpPr/>
          <p:nvPr/>
        </p:nvSpPr>
        <p:spPr>
          <a:xfrm>
            <a:off x="640080" y="822960"/>
            <a:ext cx="1051560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From upload to styled look: the pipeline</a:t>
            </a:r>
            <a:endParaRPr lang="en-US" sz="2800" dirty="0"/>
          </a:p>
        </p:txBody>
      </p:sp>
      <p:sp>
        <p:nvSpPr>
          <p:cNvPr id="4" name="Shape 2"/>
          <p:cNvSpPr/>
          <p:nvPr/>
        </p:nvSpPr>
        <p:spPr>
          <a:xfrm>
            <a:off x="640080" y="2148840"/>
            <a:ext cx="1691640" cy="2377440"/>
          </a:xfrm>
          <a:prstGeom prst="roundRect">
            <a:avLst>
              <a:gd name="adj" fmla="val 6486"/>
            </a:avLst>
          </a:prstGeom>
          <a:solidFill>
            <a:srgbClr val="1D1A2E"/>
          </a:solidFill>
          <a:ln w="12700">
            <a:solidFill>
              <a:srgbClr val="322C4C"/>
            </a:solidFill>
            <a:prstDash val="solid"/>
          </a:ln>
        </p:spPr>
      </p:sp>
      <p:sp>
        <p:nvSpPr>
          <p:cNvPr id="5" name="Shape 3"/>
          <p:cNvSpPr/>
          <p:nvPr/>
        </p:nvSpPr>
        <p:spPr>
          <a:xfrm>
            <a:off x="1097280" y="2423160"/>
            <a:ext cx="777240" cy="777240"/>
          </a:xfrm>
          <a:prstGeom prst="ellipse">
            <a:avLst/>
          </a:prstGeom>
          <a:solidFill>
            <a:srgbClr val="EC6FA6"/>
          </a:solidFill>
          <a:ln/>
        </p:spPr>
      </p:sp>
      <p:pic>
        <p:nvPicPr>
          <p:cNvPr id="6" name="Image 0" descr="upload.png">    </p:cNvPr>
          <p:cNvPicPr>
            <a:picLocks noChangeAspect="1"/>
          </p:cNvPicPr>
          <p:nvPr/>
        </p:nvPicPr>
        <p:blipFill>
          <a:blip r:embed="rId1"/>
          <a:stretch>
            <a:fillRect/>
          </a:stretch>
        </p:blipFill>
        <p:spPr>
          <a:xfrm>
            <a:off x="1299362" y="2625242"/>
            <a:ext cx="373075" cy="373075"/>
          </a:xfrm>
          <a:prstGeom prst="rect">
            <a:avLst/>
          </a:prstGeom>
        </p:spPr>
      </p:pic>
      <p:sp>
        <p:nvSpPr>
          <p:cNvPr id="7" name="Text 4"/>
          <p:cNvSpPr/>
          <p:nvPr/>
        </p:nvSpPr>
        <p:spPr>
          <a:xfrm>
            <a:off x="713232" y="3337560"/>
            <a:ext cx="1545336" cy="41148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Upload</a:t>
            </a:r>
            <a:endParaRPr lang="en-US" sz="1350" dirty="0"/>
          </a:p>
        </p:txBody>
      </p:sp>
      <p:sp>
        <p:nvSpPr>
          <p:cNvPr id="8" name="Text 5"/>
          <p:cNvSpPr/>
          <p:nvPr/>
        </p:nvSpPr>
        <p:spPr>
          <a:xfrm>
            <a:off x="749808" y="3749040"/>
            <a:ext cx="1472184" cy="685800"/>
          </a:xfrm>
          <a:prstGeom prst="rect">
            <a:avLst/>
          </a:prstGeom>
          <a:noFill/>
          <a:ln/>
        </p:spPr>
        <p:txBody>
          <a:bodyPr wrap="square" rtlCol="0" anchor="t"/>
          <a:lstStyle/>
          <a:p>
            <a:pPr algn="ctr" indent="0" marL="0">
              <a:lnSpc>
                <a:spcPct val="110000"/>
              </a:lnSpc>
              <a:buNone/>
            </a:pPr>
            <a:r>
              <a:rPr lang="en-US" sz="1050" dirty="0">
                <a:solidFill>
                  <a:srgbClr val="A9A3C2"/>
                </a:solidFill>
                <a:latin typeface="Calibri" pitchFamily="34" charset="0"/>
                <a:ea typeface="Calibri" pitchFamily="34" charset="-122"/>
                <a:cs typeface="Calibri" pitchFamily="34" charset="-120"/>
              </a:rPr>
              <a:t>Photo + occasion + season</a:t>
            </a:r>
            <a:endParaRPr lang="en-US" sz="1050" dirty="0"/>
          </a:p>
        </p:txBody>
      </p:sp>
      <p:sp>
        <p:nvSpPr>
          <p:cNvPr id="9" name="Text 6"/>
          <p:cNvSpPr/>
          <p:nvPr/>
        </p:nvSpPr>
        <p:spPr>
          <a:xfrm>
            <a:off x="2331720" y="2971800"/>
            <a:ext cx="173736" cy="457200"/>
          </a:xfrm>
          <a:prstGeom prst="rect">
            <a:avLst/>
          </a:prstGeom>
          <a:noFill/>
          <a:ln/>
        </p:spPr>
        <p:txBody>
          <a:bodyPr wrap="square" rtlCol="0" anchor="ctr"/>
          <a:lstStyle/>
          <a:p>
            <a:pPr algn="ctr" indent="0" marL="0">
              <a:buNone/>
            </a:pPr>
            <a:r>
              <a:rPr lang="en-US" sz="1600" b="1" dirty="0">
                <a:solidFill>
                  <a:srgbClr val="F48FB1"/>
                </a:solidFill>
                <a:latin typeface="Calibri" pitchFamily="34" charset="0"/>
                <a:ea typeface="Calibri" pitchFamily="34" charset="-122"/>
                <a:cs typeface="Calibri" pitchFamily="34" charset="-120"/>
              </a:rPr>
              <a:t>→</a:t>
            </a:r>
            <a:endParaRPr lang="en-US" sz="1600" dirty="0"/>
          </a:p>
        </p:txBody>
      </p:sp>
      <p:sp>
        <p:nvSpPr>
          <p:cNvPr id="10" name="Shape 7"/>
          <p:cNvSpPr/>
          <p:nvPr/>
        </p:nvSpPr>
        <p:spPr>
          <a:xfrm>
            <a:off x="2505456" y="2148840"/>
            <a:ext cx="1691640" cy="2377440"/>
          </a:xfrm>
          <a:prstGeom prst="roundRect">
            <a:avLst>
              <a:gd name="adj" fmla="val 6486"/>
            </a:avLst>
          </a:prstGeom>
          <a:solidFill>
            <a:srgbClr val="1D1A2E"/>
          </a:solidFill>
          <a:ln w="12700">
            <a:solidFill>
              <a:srgbClr val="322C4C"/>
            </a:solidFill>
            <a:prstDash val="solid"/>
          </a:ln>
        </p:spPr>
      </p:sp>
      <p:sp>
        <p:nvSpPr>
          <p:cNvPr id="11" name="Shape 8"/>
          <p:cNvSpPr/>
          <p:nvPr/>
        </p:nvSpPr>
        <p:spPr>
          <a:xfrm>
            <a:off x="2962656" y="2423160"/>
            <a:ext cx="777240" cy="777240"/>
          </a:xfrm>
          <a:prstGeom prst="ellipse">
            <a:avLst/>
          </a:prstGeom>
          <a:solidFill>
            <a:srgbClr val="7FD8E8"/>
          </a:solidFill>
          <a:ln/>
        </p:spPr>
      </p:sp>
      <p:pic>
        <p:nvPicPr>
          <p:cNvPr id="12" name="Image 1" descr="eye.png">    </p:cNvPr>
          <p:cNvPicPr>
            <a:picLocks noChangeAspect="1"/>
          </p:cNvPicPr>
          <p:nvPr/>
        </p:nvPicPr>
        <p:blipFill>
          <a:blip r:embed="rId2"/>
          <a:stretch>
            <a:fillRect/>
          </a:stretch>
        </p:blipFill>
        <p:spPr>
          <a:xfrm>
            <a:off x="3164738" y="2625242"/>
            <a:ext cx="373075" cy="373075"/>
          </a:xfrm>
          <a:prstGeom prst="rect">
            <a:avLst/>
          </a:prstGeom>
        </p:spPr>
      </p:pic>
      <p:sp>
        <p:nvSpPr>
          <p:cNvPr id="13" name="Text 9"/>
          <p:cNvSpPr/>
          <p:nvPr/>
        </p:nvSpPr>
        <p:spPr>
          <a:xfrm>
            <a:off x="2578608" y="3337560"/>
            <a:ext cx="1545336" cy="41148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CLIP</a:t>
            </a:r>
            <a:endParaRPr lang="en-US" sz="1350" dirty="0"/>
          </a:p>
        </p:txBody>
      </p:sp>
      <p:sp>
        <p:nvSpPr>
          <p:cNvPr id="14" name="Text 10"/>
          <p:cNvSpPr/>
          <p:nvPr/>
        </p:nvSpPr>
        <p:spPr>
          <a:xfrm>
            <a:off x="2615184" y="3749040"/>
            <a:ext cx="1472184" cy="685800"/>
          </a:xfrm>
          <a:prstGeom prst="rect">
            <a:avLst/>
          </a:prstGeom>
          <a:noFill/>
          <a:ln/>
        </p:spPr>
        <p:txBody>
          <a:bodyPr wrap="square" rtlCol="0" anchor="t"/>
          <a:lstStyle/>
          <a:p>
            <a:pPr algn="ctr" indent="0" marL="0">
              <a:lnSpc>
                <a:spcPct val="110000"/>
              </a:lnSpc>
              <a:buNone/>
            </a:pPr>
            <a:r>
              <a:rPr lang="en-US" sz="1050" dirty="0">
                <a:solidFill>
                  <a:srgbClr val="A9A3C2"/>
                </a:solidFill>
                <a:latin typeface="Calibri" pitchFamily="34" charset="0"/>
                <a:ea typeface="Calibri" pitchFamily="34" charset="-122"/>
                <a:cs typeface="Calibri" pitchFamily="34" charset="-120"/>
              </a:rPr>
              <a:t>Detects garment type</a:t>
            </a:r>
            <a:endParaRPr lang="en-US" sz="1050" dirty="0"/>
          </a:p>
        </p:txBody>
      </p:sp>
      <p:sp>
        <p:nvSpPr>
          <p:cNvPr id="15" name="Text 11"/>
          <p:cNvSpPr/>
          <p:nvPr/>
        </p:nvSpPr>
        <p:spPr>
          <a:xfrm>
            <a:off x="4197096" y="2971800"/>
            <a:ext cx="173736" cy="457200"/>
          </a:xfrm>
          <a:prstGeom prst="rect">
            <a:avLst/>
          </a:prstGeom>
          <a:noFill/>
          <a:ln/>
        </p:spPr>
        <p:txBody>
          <a:bodyPr wrap="square" rtlCol="0" anchor="ctr"/>
          <a:lstStyle/>
          <a:p>
            <a:pPr algn="ctr" indent="0" marL="0">
              <a:buNone/>
            </a:pPr>
            <a:r>
              <a:rPr lang="en-US" sz="1600" b="1" dirty="0">
                <a:solidFill>
                  <a:srgbClr val="F48FB1"/>
                </a:solidFill>
                <a:latin typeface="Calibri" pitchFamily="34" charset="0"/>
                <a:ea typeface="Calibri" pitchFamily="34" charset="-122"/>
                <a:cs typeface="Calibri" pitchFamily="34" charset="-120"/>
              </a:rPr>
              <a:t>→</a:t>
            </a:r>
            <a:endParaRPr lang="en-US" sz="1600" dirty="0"/>
          </a:p>
        </p:txBody>
      </p:sp>
      <p:sp>
        <p:nvSpPr>
          <p:cNvPr id="16" name="Shape 12"/>
          <p:cNvSpPr/>
          <p:nvPr/>
        </p:nvSpPr>
        <p:spPr>
          <a:xfrm>
            <a:off x="4370832" y="2148840"/>
            <a:ext cx="1691640" cy="2377440"/>
          </a:xfrm>
          <a:prstGeom prst="roundRect">
            <a:avLst>
              <a:gd name="adj" fmla="val 6486"/>
            </a:avLst>
          </a:prstGeom>
          <a:solidFill>
            <a:srgbClr val="1D1A2E"/>
          </a:solidFill>
          <a:ln w="12700">
            <a:solidFill>
              <a:srgbClr val="322C4C"/>
            </a:solidFill>
            <a:prstDash val="solid"/>
          </a:ln>
        </p:spPr>
      </p:sp>
      <p:sp>
        <p:nvSpPr>
          <p:cNvPr id="17" name="Shape 13"/>
          <p:cNvSpPr/>
          <p:nvPr/>
        </p:nvSpPr>
        <p:spPr>
          <a:xfrm>
            <a:off x="4828032" y="2423160"/>
            <a:ext cx="777240" cy="777240"/>
          </a:xfrm>
          <a:prstGeom prst="ellipse">
            <a:avLst/>
          </a:prstGeom>
          <a:solidFill>
            <a:srgbClr val="EC6FA6"/>
          </a:solidFill>
          <a:ln/>
        </p:spPr>
      </p:sp>
      <p:pic>
        <p:nvPicPr>
          <p:cNvPr id="18" name="Image 2" descr="droplet.png">    </p:cNvPr>
          <p:cNvPicPr>
            <a:picLocks noChangeAspect="1"/>
          </p:cNvPicPr>
          <p:nvPr/>
        </p:nvPicPr>
        <p:blipFill>
          <a:blip r:embed="rId3"/>
          <a:stretch>
            <a:fillRect/>
          </a:stretch>
        </p:blipFill>
        <p:spPr>
          <a:xfrm>
            <a:off x="5030114" y="2625242"/>
            <a:ext cx="373075" cy="373075"/>
          </a:xfrm>
          <a:prstGeom prst="rect">
            <a:avLst/>
          </a:prstGeom>
        </p:spPr>
      </p:pic>
      <p:sp>
        <p:nvSpPr>
          <p:cNvPr id="19" name="Text 14"/>
          <p:cNvSpPr/>
          <p:nvPr/>
        </p:nvSpPr>
        <p:spPr>
          <a:xfrm>
            <a:off x="4443984" y="3337560"/>
            <a:ext cx="1545336" cy="41148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K-means</a:t>
            </a:r>
            <a:endParaRPr lang="en-US" sz="1350" dirty="0"/>
          </a:p>
        </p:txBody>
      </p:sp>
      <p:sp>
        <p:nvSpPr>
          <p:cNvPr id="20" name="Text 15"/>
          <p:cNvSpPr/>
          <p:nvPr/>
        </p:nvSpPr>
        <p:spPr>
          <a:xfrm>
            <a:off x="4480560" y="3749040"/>
            <a:ext cx="1472184" cy="685800"/>
          </a:xfrm>
          <a:prstGeom prst="rect">
            <a:avLst/>
          </a:prstGeom>
          <a:noFill/>
          <a:ln/>
        </p:spPr>
        <p:txBody>
          <a:bodyPr wrap="square" rtlCol="0" anchor="t"/>
          <a:lstStyle/>
          <a:p>
            <a:pPr algn="ctr" indent="0" marL="0">
              <a:lnSpc>
                <a:spcPct val="110000"/>
              </a:lnSpc>
              <a:buNone/>
            </a:pPr>
            <a:r>
              <a:rPr lang="en-US" sz="1050" dirty="0">
                <a:solidFill>
                  <a:srgbClr val="A9A3C2"/>
                </a:solidFill>
                <a:latin typeface="Calibri" pitchFamily="34" charset="0"/>
                <a:ea typeface="Calibri" pitchFamily="34" charset="-122"/>
                <a:cs typeface="Calibri" pitchFamily="34" charset="-120"/>
              </a:rPr>
              <a:t>Extracts dominant color</a:t>
            </a:r>
            <a:endParaRPr lang="en-US" sz="1050" dirty="0"/>
          </a:p>
        </p:txBody>
      </p:sp>
      <p:sp>
        <p:nvSpPr>
          <p:cNvPr id="21" name="Text 16"/>
          <p:cNvSpPr/>
          <p:nvPr/>
        </p:nvSpPr>
        <p:spPr>
          <a:xfrm>
            <a:off x="6062472" y="2971800"/>
            <a:ext cx="173736" cy="457200"/>
          </a:xfrm>
          <a:prstGeom prst="rect">
            <a:avLst/>
          </a:prstGeom>
          <a:noFill/>
          <a:ln/>
        </p:spPr>
        <p:txBody>
          <a:bodyPr wrap="square" rtlCol="0" anchor="ctr"/>
          <a:lstStyle/>
          <a:p>
            <a:pPr algn="ctr" indent="0" marL="0">
              <a:buNone/>
            </a:pPr>
            <a:r>
              <a:rPr lang="en-US" sz="1600" b="1" dirty="0">
                <a:solidFill>
                  <a:srgbClr val="F48FB1"/>
                </a:solidFill>
                <a:latin typeface="Calibri" pitchFamily="34" charset="0"/>
                <a:ea typeface="Calibri" pitchFamily="34" charset="-122"/>
                <a:cs typeface="Calibri" pitchFamily="34" charset="-120"/>
              </a:rPr>
              <a:t>→</a:t>
            </a:r>
            <a:endParaRPr lang="en-US" sz="1600" dirty="0"/>
          </a:p>
        </p:txBody>
      </p:sp>
      <p:sp>
        <p:nvSpPr>
          <p:cNvPr id="22" name="Shape 17"/>
          <p:cNvSpPr/>
          <p:nvPr/>
        </p:nvSpPr>
        <p:spPr>
          <a:xfrm>
            <a:off x="6236208" y="2148840"/>
            <a:ext cx="1691640" cy="2377440"/>
          </a:xfrm>
          <a:prstGeom prst="roundRect">
            <a:avLst>
              <a:gd name="adj" fmla="val 6486"/>
            </a:avLst>
          </a:prstGeom>
          <a:solidFill>
            <a:srgbClr val="1D1A2E"/>
          </a:solidFill>
          <a:ln w="12700">
            <a:solidFill>
              <a:srgbClr val="322C4C"/>
            </a:solidFill>
            <a:prstDash val="solid"/>
          </a:ln>
        </p:spPr>
      </p:sp>
      <p:sp>
        <p:nvSpPr>
          <p:cNvPr id="23" name="Shape 18"/>
          <p:cNvSpPr/>
          <p:nvPr/>
        </p:nvSpPr>
        <p:spPr>
          <a:xfrm>
            <a:off x="6693408" y="2423160"/>
            <a:ext cx="777240" cy="777240"/>
          </a:xfrm>
          <a:prstGeom prst="ellipse">
            <a:avLst/>
          </a:prstGeom>
          <a:solidFill>
            <a:srgbClr val="7FD8E8"/>
          </a:solidFill>
          <a:ln/>
        </p:spPr>
      </p:sp>
      <p:pic>
        <p:nvPicPr>
          <p:cNvPr id="24" name="Image 3" descr="message.png">    </p:cNvPr>
          <p:cNvPicPr>
            <a:picLocks noChangeAspect="1"/>
          </p:cNvPicPr>
          <p:nvPr/>
        </p:nvPicPr>
        <p:blipFill>
          <a:blip r:embed="rId4"/>
          <a:stretch>
            <a:fillRect/>
          </a:stretch>
        </p:blipFill>
        <p:spPr>
          <a:xfrm>
            <a:off x="6895490" y="2625242"/>
            <a:ext cx="373075" cy="373075"/>
          </a:xfrm>
          <a:prstGeom prst="rect">
            <a:avLst/>
          </a:prstGeom>
        </p:spPr>
      </p:pic>
      <p:sp>
        <p:nvSpPr>
          <p:cNvPr id="25" name="Text 19"/>
          <p:cNvSpPr/>
          <p:nvPr/>
        </p:nvSpPr>
        <p:spPr>
          <a:xfrm>
            <a:off x="6309360" y="3337560"/>
            <a:ext cx="1545336" cy="41148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Groq LLM</a:t>
            </a:r>
            <a:endParaRPr lang="en-US" sz="1350" dirty="0"/>
          </a:p>
        </p:txBody>
      </p:sp>
      <p:sp>
        <p:nvSpPr>
          <p:cNvPr id="26" name="Text 20"/>
          <p:cNvSpPr/>
          <p:nvPr/>
        </p:nvSpPr>
        <p:spPr>
          <a:xfrm>
            <a:off x="6345936" y="3749040"/>
            <a:ext cx="1472184" cy="685800"/>
          </a:xfrm>
          <a:prstGeom prst="rect">
            <a:avLst/>
          </a:prstGeom>
          <a:noFill/>
          <a:ln/>
        </p:spPr>
        <p:txBody>
          <a:bodyPr wrap="square" rtlCol="0" anchor="t"/>
          <a:lstStyle/>
          <a:p>
            <a:pPr algn="ctr" indent="0" marL="0">
              <a:lnSpc>
                <a:spcPct val="110000"/>
              </a:lnSpc>
              <a:buNone/>
            </a:pPr>
            <a:r>
              <a:rPr lang="en-US" sz="1050" dirty="0">
                <a:solidFill>
                  <a:srgbClr val="A9A3C2"/>
                </a:solidFill>
                <a:latin typeface="Calibri" pitchFamily="34" charset="0"/>
                <a:ea typeface="Calibri" pitchFamily="34" charset="-122"/>
                <a:cs typeface="Calibri" pitchFamily="34" charset="-120"/>
              </a:rPr>
              <a:t>Generates styling advice</a:t>
            </a:r>
            <a:endParaRPr lang="en-US" sz="1050" dirty="0"/>
          </a:p>
        </p:txBody>
      </p:sp>
      <p:sp>
        <p:nvSpPr>
          <p:cNvPr id="27" name="Text 21"/>
          <p:cNvSpPr/>
          <p:nvPr/>
        </p:nvSpPr>
        <p:spPr>
          <a:xfrm>
            <a:off x="7927848" y="2971800"/>
            <a:ext cx="173736" cy="457200"/>
          </a:xfrm>
          <a:prstGeom prst="rect">
            <a:avLst/>
          </a:prstGeom>
          <a:noFill/>
          <a:ln/>
        </p:spPr>
        <p:txBody>
          <a:bodyPr wrap="square" rtlCol="0" anchor="ctr"/>
          <a:lstStyle/>
          <a:p>
            <a:pPr algn="ctr" indent="0" marL="0">
              <a:buNone/>
            </a:pPr>
            <a:r>
              <a:rPr lang="en-US" sz="1600" b="1" dirty="0">
                <a:solidFill>
                  <a:srgbClr val="F48FB1"/>
                </a:solidFill>
                <a:latin typeface="Calibri" pitchFamily="34" charset="0"/>
                <a:ea typeface="Calibri" pitchFamily="34" charset="-122"/>
                <a:cs typeface="Calibri" pitchFamily="34" charset="-120"/>
              </a:rPr>
              <a:t>→</a:t>
            </a:r>
            <a:endParaRPr lang="en-US" sz="1600" dirty="0"/>
          </a:p>
        </p:txBody>
      </p:sp>
      <p:sp>
        <p:nvSpPr>
          <p:cNvPr id="28" name="Shape 22"/>
          <p:cNvSpPr/>
          <p:nvPr/>
        </p:nvSpPr>
        <p:spPr>
          <a:xfrm>
            <a:off x="8101584" y="2148840"/>
            <a:ext cx="1691640" cy="2377440"/>
          </a:xfrm>
          <a:prstGeom prst="roundRect">
            <a:avLst>
              <a:gd name="adj" fmla="val 6486"/>
            </a:avLst>
          </a:prstGeom>
          <a:solidFill>
            <a:srgbClr val="1D1A2E"/>
          </a:solidFill>
          <a:ln w="12700">
            <a:solidFill>
              <a:srgbClr val="322C4C"/>
            </a:solidFill>
            <a:prstDash val="solid"/>
          </a:ln>
        </p:spPr>
      </p:sp>
      <p:sp>
        <p:nvSpPr>
          <p:cNvPr id="29" name="Shape 23"/>
          <p:cNvSpPr/>
          <p:nvPr/>
        </p:nvSpPr>
        <p:spPr>
          <a:xfrm>
            <a:off x="8558784" y="2423160"/>
            <a:ext cx="777240" cy="777240"/>
          </a:xfrm>
          <a:prstGeom prst="ellipse">
            <a:avLst/>
          </a:prstGeom>
          <a:solidFill>
            <a:srgbClr val="EC6FA6"/>
          </a:solidFill>
          <a:ln/>
        </p:spPr>
      </p:sp>
      <p:pic>
        <p:nvPicPr>
          <p:cNvPr id="30" name="Image 4" descr="image.png">    </p:cNvPr>
          <p:cNvPicPr>
            <a:picLocks noChangeAspect="1"/>
          </p:cNvPicPr>
          <p:nvPr/>
        </p:nvPicPr>
        <p:blipFill>
          <a:blip r:embed="rId5"/>
          <a:stretch>
            <a:fillRect/>
          </a:stretch>
        </p:blipFill>
        <p:spPr>
          <a:xfrm>
            <a:off x="8760866" y="2625242"/>
            <a:ext cx="373075" cy="373075"/>
          </a:xfrm>
          <a:prstGeom prst="rect">
            <a:avLst/>
          </a:prstGeom>
        </p:spPr>
      </p:pic>
      <p:sp>
        <p:nvSpPr>
          <p:cNvPr id="31" name="Text 24"/>
          <p:cNvSpPr/>
          <p:nvPr/>
        </p:nvSpPr>
        <p:spPr>
          <a:xfrm>
            <a:off x="8174736" y="3337560"/>
            <a:ext cx="1545336" cy="41148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Pexels API</a:t>
            </a:r>
            <a:endParaRPr lang="en-US" sz="1350" dirty="0"/>
          </a:p>
        </p:txBody>
      </p:sp>
      <p:sp>
        <p:nvSpPr>
          <p:cNvPr id="32" name="Text 25"/>
          <p:cNvSpPr/>
          <p:nvPr/>
        </p:nvSpPr>
        <p:spPr>
          <a:xfrm>
            <a:off x="8211312" y="3749040"/>
            <a:ext cx="1472184" cy="685800"/>
          </a:xfrm>
          <a:prstGeom prst="rect">
            <a:avLst/>
          </a:prstGeom>
          <a:noFill/>
          <a:ln/>
        </p:spPr>
        <p:txBody>
          <a:bodyPr wrap="square" rtlCol="0" anchor="t"/>
          <a:lstStyle/>
          <a:p>
            <a:pPr algn="ctr" indent="0" marL="0">
              <a:lnSpc>
                <a:spcPct val="110000"/>
              </a:lnSpc>
              <a:buNone/>
            </a:pPr>
            <a:r>
              <a:rPr lang="en-US" sz="1050" dirty="0">
                <a:solidFill>
                  <a:srgbClr val="A9A3C2"/>
                </a:solidFill>
                <a:latin typeface="Calibri" pitchFamily="34" charset="0"/>
                <a:ea typeface="Calibri" pitchFamily="34" charset="-122"/>
                <a:cs typeface="Calibri" pitchFamily="34" charset="-120"/>
              </a:rPr>
              <a:t>Real reference photos</a:t>
            </a:r>
            <a:endParaRPr lang="en-US" sz="1050" dirty="0"/>
          </a:p>
        </p:txBody>
      </p:sp>
      <p:sp>
        <p:nvSpPr>
          <p:cNvPr id="33" name="Text 26"/>
          <p:cNvSpPr/>
          <p:nvPr/>
        </p:nvSpPr>
        <p:spPr>
          <a:xfrm>
            <a:off x="9793224" y="2971800"/>
            <a:ext cx="173736" cy="457200"/>
          </a:xfrm>
          <a:prstGeom prst="rect">
            <a:avLst/>
          </a:prstGeom>
          <a:noFill/>
          <a:ln/>
        </p:spPr>
        <p:txBody>
          <a:bodyPr wrap="square" rtlCol="0" anchor="ctr"/>
          <a:lstStyle/>
          <a:p>
            <a:pPr algn="ctr" indent="0" marL="0">
              <a:buNone/>
            </a:pPr>
            <a:r>
              <a:rPr lang="en-US" sz="1600" b="1" dirty="0">
                <a:solidFill>
                  <a:srgbClr val="F48FB1"/>
                </a:solidFill>
                <a:latin typeface="Calibri" pitchFamily="34" charset="0"/>
                <a:ea typeface="Calibri" pitchFamily="34" charset="-122"/>
                <a:cs typeface="Calibri" pitchFamily="34" charset="-120"/>
              </a:rPr>
              <a:t>→</a:t>
            </a:r>
            <a:endParaRPr lang="en-US" sz="1600" dirty="0"/>
          </a:p>
        </p:txBody>
      </p:sp>
      <p:sp>
        <p:nvSpPr>
          <p:cNvPr id="34" name="Shape 27"/>
          <p:cNvSpPr/>
          <p:nvPr/>
        </p:nvSpPr>
        <p:spPr>
          <a:xfrm>
            <a:off x="9966960" y="2148840"/>
            <a:ext cx="1691640" cy="2377440"/>
          </a:xfrm>
          <a:prstGeom prst="roundRect">
            <a:avLst>
              <a:gd name="adj" fmla="val 6486"/>
            </a:avLst>
          </a:prstGeom>
          <a:solidFill>
            <a:srgbClr val="1D1A2E"/>
          </a:solidFill>
          <a:ln w="12700">
            <a:solidFill>
              <a:srgbClr val="322C4C"/>
            </a:solidFill>
            <a:prstDash val="solid"/>
          </a:ln>
        </p:spPr>
      </p:sp>
      <p:sp>
        <p:nvSpPr>
          <p:cNvPr id="35" name="Shape 28"/>
          <p:cNvSpPr/>
          <p:nvPr/>
        </p:nvSpPr>
        <p:spPr>
          <a:xfrm>
            <a:off x="10424160" y="2423160"/>
            <a:ext cx="777240" cy="777240"/>
          </a:xfrm>
          <a:prstGeom prst="ellipse">
            <a:avLst/>
          </a:prstGeom>
          <a:solidFill>
            <a:srgbClr val="7FD8E8"/>
          </a:solidFill>
          <a:ln/>
        </p:spPr>
      </p:sp>
      <p:pic>
        <p:nvPicPr>
          <p:cNvPr id="36" name="Image 5" descr="database.png">    </p:cNvPr>
          <p:cNvPicPr>
            <a:picLocks noChangeAspect="1"/>
          </p:cNvPicPr>
          <p:nvPr/>
        </p:nvPicPr>
        <p:blipFill>
          <a:blip r:embed="rId6"/>
          <a:stretch>
            <a:fillRect/>
          </a:stretch>
        </p:blipFill>
        <p:spPr>
          <a:xfrm>
            <a:off x="10626242" y="2625242"/>
            <a:ext cx="373075" cy="373075"/>
          </a:xfrm>
          <a:prstGeom prst="rect">
            <a:avLst/>
          </a:prstGeom>
        </p:spPr>
      </p:pic>
      <p:sp>
        <p:nvSpPr>
          <p:cNvPr id="37" name="Text 29"/>
          <p:cNvSpPr/>
          <p:nvPr/>
        </p:nvSpPr>
        <p:spPr>
          <a:xfrm>
            <a:off x="10040112" y="3337560"/>
            <a:ext cx="1545336" cy="411480"/>
          </a:xfrm>
          <a:prstGeom prst="rect">
            <a:avLst/>
          </a:prstGeom>
          <a:noFill/>
          <a:ln/>
        </p:spPr>
        <p:txBody>
          <a:bodyPr wrap="square" rtlCol="0" anchor="ctr"/>
          <a:lstStyle/>
          <a:p>
            <a:pPr algn="ctr" indent="0" marL="0">
              <a:buNone/>
            </a:pPr>
            <a:r>
              <a:rPr lang="en-US" sz="1350" b="1" dirty="0">
                <a:solidFill>
                  <a:srgbClr val="FFFFFF"/>
                </a:solidFill>
                <a:latin typeface="Calibri" pitchFamily="34" charset="0"/>
                <a:ea typeface="Calibri" pitchFamily="34" charset="-122"/>
                <a:cs typeface="Calibri" pitchFamily="34" charset="-120"/>
              </a:rPr>
              <a:t>SQLite</a:t>
            </a:r>
            <a:endParaRPr lang="en-US" sz="1350" dirty="0"/>
          </a:p>
        </p:txBody>
      </p:sp>
      <p:sp>
        <p:nvSpPr>
          <p:cNvPr id="38" name="Text 30"/>
          <p:cNvSpPr/>
          <p:nvPr/>
        </p:nvSpPr>
        <p:spPr>
          <a:xfrm>
            <a:off x="10076688" y="3749040"/>
            <a:ext cx="1472184" cy="685800"/>
          </a:xfrm>
          <a:prstGeom prst="rect">
            <a:avLst/>
          </a:prstGeom>
          <a:noFill/>
          <a:ln/>
        </p:spPr>
        <p:txBody>
          <a:bodyPr wrap="square" rtlCol="0" anchor="t"/>
          <a:lstStyle/>
          <a:p>
            <a:pPr algn="ctr" indent="0" marL="0">
              <a:lnSpc>
                <a:spcPct val="110000"/>
              </a:lnSpc>
              <a:buNone/>
            </a:pPr>
            <a:r>
              <a:rPr lang="en-US" sz="1050" dirty="0">
                <a:solidFill>
                  <a:srgbClr val="A9A3C2"/>
                </a:solidFill>
                <a:latin typeface="Calibri" pitchFamily="34" charset="0"/>
                <a:ea typeface="Calibri" pitchFamily="34" charset="-122"/>
                <a:cs typeface="Calibri" pitchFamily="34" charset="-120"/>
              </a:rPr>
              <a:t>Saves to persistent history</a:t>
            </a:r>
            <a:endParaRPr lang="en-US" sz="1050" dirty="0"/>
          </a:p>
        </p:txBody>
      </p:sp>
      <p:sp>
        <p:nvSpPr>
          <p:cNvPr id="39" name="Shape 31"/>
          <p:cNvSpPr/>
          <p:nvPr/>
        </p:nvSpPr>
        <p:spPr>
          <a:xfrm>
            <a:off x="640080" y="4892040"/>
            <a:ext cx="5212080" cy="1051560"/>
          </a:xfrm>
          <a:prstGeom prst="roundRect">
            <a:avLst>
              <a:gd name="adj" fmla="val 10435"/>
            </a:avLst>
          </a:prstGeom>
          <a:solidFill>
            <a:srgbClr val="241F3A"/>
          </a:solidFill>
          <a:ln w="12700">
            <a:solidFill>
              <a:srgbClr val="322C4C"/>
            </a:solidFill>
            <a:prstDash val="solid"/>
          </a:ln>
        </p:spPr>
      </p:sp>
      <p:sp>
        <p:nvSpPr>
          <p:cNvPr id="40" name="Text 32"/>
          <p:cNvSpPr/>
          <p:nvPr/>
        </p:nvSpPr>
        <p:spPr>
          <a:xfrm>
            <a:off x="914400" y="5029200"/>
            <a:ext cx="4572000" cy="274320"/>
          </a:xfrm>
          <a:prstGeom prst="rect">
            <a:avLst/>
          </a:prstGeom>
          <a:noFill/>
          <a:ln/>
        </p:spPr>
        <p:txBody>
          <a:bodyPr wrap="square" rtlCol="0" anchor="ctr"/>
          <a:lstStyle/>
          <a:p>
            <a:pPr indent="0" marL="0">
              <a:buNone/>
            </a:pPr>
            <a:r>
              <a:rPr lang="en-US" sz="1100" b="1" spc="200" kern="0" dirty="0">
                <a:solidFill>
                  <a:srgbClr val="EC6FA6"/>
                </a:solidFill>
                <a:latin typeface="Calibri" pitchFamily="34" charset="0"/>
                <a:ea typeface="Calibri" pitchFamily="34" charset="-122"/>
                <a:cs typeface="Calibri" pitchFamily="34" charset="-120"/>
              </a:rPr>
              <a:t>BACKEND</a:t>
            </a:r>
            <a:endParaRPr lang="en-US" sz="1100" dirty="0"/>
          </a:p>
        </p:txBody>
      </p:sp>
      <p:sp>
        <p:nvSpPr>
          <p:cNvPr id="41" name="Text 33"/>
          <p:cNvSpPr/>
          <p:nvPr/>
        </p:nvSpPr>
        <p:spPr>
          <a:xfrm>
            <a:off x="914400" y="5303520"/>
            <a:ext cx="4663440" cy="548640"/>
          </a:xfrm>
          <a:prstGeom prst="rect">
            <a:avLst/>
          </a:prstGeom>
          <a:noFill/>
          <a:ln/>
        </p:spPr>
        <p:txBody>
          <a:bodyPr wrap="square" rtlCol="0" anchor="t"/>
          <a:lstStyle/>
          <a:p>
            <a:pPr indent="0" marL="0">
              <a:buNone/>
            </a:pPr>
            <a:r>
              <a:rPr lang="en-US" sz="1150" dirty="0">
                <a:solidFill>
                  <a:srgbClr val="A9A3C2"/>
                </a:solidFill>
                <a:latin typeface="Calibri" pitchFamily="34" charset="0"/>
                <a:ea typeface="Calibri" pitchFamily="34" charset="-122"/>
                <a:cs typeface="Calibri" pitchFamily="34" charset="-120"/>
              </a:rPr>
              <a:t>FastAPI, tying garment detection, color analysis, styling, and image lookup into one flow</a:t>
            </a:r>
            <a:endParaRPr lang="en-US" sz="1150" dirty="0"/>
          </a:p>
        </p:txBody>
      </p:sp>
      <p:sp>
        <p:nvSpPr>
          <p:cNvPr id="42" name="Shape 34"/>
          <p:cNvSpPr/>
          <p:nvPr/>
        </p:nvSpPr>
        <p:spPr>
          <a:xfrm>
            <a:off x="6035040" y="4892040"/>
            <a:ext cx="5212080" cy="1051560"/>
          </a:xfrm>
          <a:prstGeom prst="roundRect">
            <a:avLst>
              <a:gd name="adj" fmla="val 10435"/>
            </a:avLst>
          </a:prstGeom>
          <a:solidFill>
            <a:srgbClr val="241F3A"/>
          </a:solidFill>
          <a:ln w="12700">
            <a:solidFill>
              <a:srgbClr val="322C4C"/>
            </a:solidFill>
            <a:prstDash val="solid"/>
          </a:ln>
        </p:spPr>
      </p:sp>
      <p:sp>
        <p:nvSpPr>
          <p:cNvPr id="43" name="Text 35"/>
          <p:cNvSpPr/>
          <p:nvPr/>
        </p:nvSpPr>
        <p:spPr>
          <a:xfrm>
            <a:off x="6309360" y="5029200"/>
            <a:ext cx="4572000" cy="274320"/>
          </a:xfrm>
          <a:prstGeom prst="rect">
            <a:avLst/>
          </a:prstGeom>
          <a:noFill/>
          <a:ln/>
        </p:spPr>
        <p:txBody>
          <a:bodyPr wrap="square" rtlCol="0" anchor="ctr"/>
          <a:lstStyle/>
          <a:p>
            <a:pPr indent="0" marL="0">
              <a:buNone/>
            </a:pPr>
            <a:r>
              <a:rPr lang="en-US" sz="1100" b="1" spc="200" kern="0" dirty="0">
                <a:solidFill>
                  <a:srgbClr val="7FD8E8"/>
                </a:solidFill>
                <a:latin typeface="Calibri" pitchFamily="34" charset="0"/>
                <a:ea typeface="Calibri" pitchFamily="34" charset="-122"/>
                <a:cs typeface="Calibri" pitchFamily="34" charset="-120"/>
              </a:rPr>
              <a:t>FRONTEND</a:t>
            </a:r>
            <a:endParaRPr lang="en-US" sz="1100" dirty="0"/>
          </a:p>
        </p:txBody>
      </p:sp>
      <p:sp>
        <p:nvSpPr>
          <p:cNvPr id="44" name="Text 36"/>
          <p:cNvSpPr/>
          <p:nvPr/>
        </p:nvSpPr>
        <p:spPr>
          <a:xfrm>
            <a:off x="6309360" y="5303520"/>
            <a:ext cx="4754880" cy="548640"/>
          </a:xfrm>
          <a:prstGeom prst="rect">
            <a:avLst/>
          </a:prstGeom>
          <a:noFill/>
          <a:ln/>
        </p:spPr>
        <p:txBody>
          <a:bodyPr wrap="square" rtlCol="0" anchor="t"/>
          <a:lstStyle/>
          <a:p>
            <a:pPr indent="0" marL="0">
              <a:buNone/>
            </a:pPr>
            <a:r>
              <a:rPr lang="en-US" sz="1150" dirty="0">
                <a:solidFill>
                  <a:srgbClr val="A9A3C2"/>
                </a:solidFill>
                <a:latin typeface="Calibri" pitchFamily="34" charset="0"/>
                <a:ea typeface="Calibri" pitchFamily="34" charset="-122"/>
                <a:cs typeface="Calibri" pitchFamily="34" charset="-120"/>
              </a:rPr>
              <a:t>HTML, Tailwind CSS, and vanilla JavaScript — no heavy framework needed at this scale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3111F"/>
        </a:solidFill>
      </p:bgPr>
    </p:bg>
    <p:spTree>
      <p:nvGrpSpPr>
        <p:cNvPr id="1" name=""/>
        <p:cNvGrpSpPr/>
        <p:nvPr/>
      </p:nvGrpSpPr>
      <p:grpSpPr>
        <a:xfrm>
          <a:off x="0" y="0"/>
          <a:ext cx="0" cy="0"/>
          <a:chOff x="0" y="0"/>
          <a:chExt cx="0" cy="0"/>
        </a:xfrm>
      </p:grpSpPr>
      <p:sp>
        <p:nvSpPr>
          <p:cNvPr id="2" name="Text 0"/>
          <p:cNvSpPr/>
          <p:nvPr/>
        </p:nvSpPr>
        <p:spPr>
          <a:xfrm>
            <a:off x="640080" y="502920"/>
            <a:ext cx="5486400" cy="365760"/>
          </a:xfrm>
          <a:prstGeom prst="rect">
            <a:avLst/>
          </a:prstGeom>
          <a:noFill/>
          <a:ln/>
        </p:spPr>
        <p:txBody>
          <a:bodyPr wrap="square" rtlCol="0" anchor="ctr"/>
          <a:lstStyle/>
          <a:p>
            <a:pPr indent="0" marL="0">
              <a:buNone/>
            </a:pPr>
            <a:r>
              <a:rPr lang="en-US" sz="1300" b="1" spc="300" kern="0" dirty="0">
                <a:solidFill>
                  <a:srgbClr val="F48FB1"/>
                </a:solidFill>
                <a:latin typeface="Calibri" pitchFamily="34" charset="0"/>
                <a:ea typeface="Calibri" pitchFamily="34" charset="-122"/>
                <a:cs typeface="Calibri" pitchFamily="34" charset="-120"/>
              </a:rPr>
              <a:t>LIVE DEMO</a:t>
            </a:r>
            <a:endParaRPr lang="en-US" sz="1300" dirty="0"/>
          </a:p>
        </p:txBody>
      </p:sp>
      <p:sp>
        <p:nvSpPr>
          <p:cNvPr id="3" name="Text 1"/>
          <p:cNvSpPr/>
          <p:nvPr/>
        </p:nvSpPr>
        <p:spPr>
          <a:xfrm>
            <a:off x="640080" y="822960"/>
            <a:ext cx="10515600" cy="73152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Upload → Detect → Style → Save</a:t>
            </a:r>
            <a:endParaRPr lang="en-US" sz="2800" dirty="0"/>
          </a:p>
        </p:txBody>
      </p:sp>
      <p:sp>
        <p:nvSpPr>
          <p:cNvPr id="4" name="Shape 2"/>
          <p:cNvSpPr/>
          <p:nvPr/>
        </p:nvSpPr>
        <p:spPr>
          <a:xfrm>
            <a:off x="640080" y="1965960"/>
            <a:ext cx="2606040" cy="3383280"/>
          </a:xfrm>
          <a:prstGeom prst="roundRect">
            <a:avLst>
              <a:gd name="adj" fmla="val 4211"/>
            </a:avLst>
          </a:prstGeom>
          <a:solidFill>
            <a:srgbClr val="1D1A2E"/>
          </a:solidFill>
          <a:ln w="12700">
            <a:solidFill>
              <a:srgbClr val="322C4C"/>
            </a:solidFill>
            <a:prstDash val="solid"/>
          </a:ln>
        </p:spPr>
      </p:sp>
      <p:sp>
        <p:nvSpPr>
          <p:cNvPr id="5" name="Shape 3"/>
          <p:cNvSpPr/>
          <p:nvPr/>
        </p:nvSpPr>
        <p:spPr>
          <a:xfrm>
            <a:off x="1531620" y="2331720"/>
            <a:ext cx="822960" cy="822960"/>
          </a:xfrm>
          <a:prstGeom prst="ellipse">
            <a:avLst/>
          </a:prstGeom>
          <a:solidFill>
            <a:srgbClr val="EC6FA6"/>
          </a:solidFill>
          <a:ln/>
        </p:spPr>
      </p:sp>
      <p:pic>
        <p:nvPicPr>
          <p:cNvPr id="6" name="Image 0" descr="upload.png">    </p:cNvPr>
          <p:cNvPicPr>
            <a:picLocks noChangeAspect="1"/>
          </p:cNvPicPr>
          <p:nvPr/>
        </p:nvPicPr>
        <p:blipFill>
          <a:blip r:embed="rId1"/>
          <a:stretch>
            <a:fillRect/>
          </a:stretch>
        </p:blipFill>
        <p:spPr>
          <a:xfrm>
            <a:off x="1745590" y="2545690"/>
            <a:ext cx="395021" cy="395021"/>
          </a:xfrm>
          <a:prstGeom prst="rect">
            <a:avLst/>
          </a:prstGeom>
        </p:spPr>
      </p:pic>
      <p:sp>
        <p:nvSpPr>
          <p:cNvPr id="7" name="Text 4"/>
          <p:cNvSpPr/>
          <p:nvPr/>
        </p:nvSpPr>
        <p:spPr>
          <a:xfrm>
            <a:off x="777240" y="2103120"/>
            <a:ext cx="457200" cy="365760"/>
          </a:xfrm>
          <a:prstGeom prst="rect">
            <a:avLst/>
          </a:prstGeom>
          <a:noFill/>
          <a:ln/>
        </p:spPr>
        <p:txBody>
          <a:bodyPr wrap="square" rtlCol="0" anchor="ctr"/>
          <a:lstStyle/>
          <a:p>
            <a:pPr indent="0" marL="0">
              <a:buNone/>
            </a:pPr>
            <a:r>
              <a:rPr lang="en-US" sz="1600" b="1" dirty="0">
                <a:solidFill>
                  <a:srgbClr val="7FD8E8"/>
                </a:solidFill>
                <a:latin typeface="Cambria" pitchFamily="34" charset="0"/>
                <a:ea typeface="Cambria" pitchFamily="34" charset="-122"/>
                <a:cs typeface="Cambria" pitchFamily="34" charset="-120"/>
              </a:rPr>
              <a:t>1</a:t>
            </a:r>
            <a:endParaRPr lang="en-US" sz="1600" dirty="0"/>
          </a:p>
        </p:txBody>
      </p:sp>
      <p:sp>
        <p:nvSpPr>
          <p:cNvPr id="8" name="Text 5"/>
          <p:cNvSpPr/>
          <p:nvPr/>
        </p:nvSpPr>
        <p:spPr>
          <a:xfrm>
            <a:off x="868680" y="3383280"/>
            <a:ext cx="214884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Upload page</a:t>
            </a:r>
            <a:endParaRPr lang="en-US" sz="1500" dirty="0"/>
          </a:p>
        </p:txBody>
      </p:sp>
      <p:sp>
        <p:nvSpPr>
          <p:cNvPr id="9" name="Text 6"/>
          <p:cNvSpPr/>
          <p:nvPr/>
        </p:nvSpPr>
        <p:spPr>
          <a:xfrm>
            <a:off x="914400" y="3886200"/>
            <a:ext cx="2057400" cy="1280160"/>
          </a:xfrm>
          <a:prstGeom prst="rect">
            <a:avLst/>
          </a:prstGeom>
          <a:noFill/>
          <a:ln/>
        </p:spPr>
        <p:txBody>
          <a:bodyPr wrap="square" rtlCol="0" anchor="t"/>
          <a:lstStyle/>
          <a:p>
            <a:pPr algn="ctr" indent="0" marL="0">
              <a:lnSpc>
                <a:spcPct val="120000"/>
              </a:lnSpc>
              <a:buNone/>
            </a:pPr>
            <a:r>
              <a:rPr lang="en-US" sz="1150" dirty="0">
                <a:solidFill>
                  <a:srgbClr val="A9A3C2"/>
                </a:solidFill>
                <a:latin typeface="Calibri" pitchFamily="34" charset="0"/>
                <a:ea typeface="Calibri" pitchFamily="34" charset="-122"/>
                <a:cs typeface="Calibri" pitchFamily="34" charset="-120"/>
              </a:rPr>
              <a:t>Photo, occasion, season</a:t>
            </a:r>
            <a:endParaRPr lang="en-US" sz="1150" dirty="0"/>
          </a:p>
        </p:txBody>
      </p:sp>
      <p:sp>
        <p:nvSpPr>
          <p:cNvPr id="10" name="Shape 7"/>
          <p:cNvSpPr/>
          <p:nvPr/>
        </p:nvSpPr>
        <p:spPr>
          <a:xfrm>
            <a:off x="3493008" y="1965960"/>
            <a:ext cx="2606040" cy="3383280"/>
          </a:xfrm>
          <a:prstGeom prst="roundRect">
            <a:avLst>
              <a:gd name="adj" fmla="val 4211"/>
            </a:avLst>
          </a:prstGeom>
          <a:solidFill>
            <a:srgbClr val="1D1A2E"/>
          </a:solidFill>
          <a:ln w="12700">
            <a:solidFill>
              <a:srgbClr val="322C4C"/>
            </a:solidFill>
            <a:prstDash val="solid"/>
          </a:ln>
        </p:spPr>
      </p:sp>
      <p:sp>
        <p:nvSpPr>
          <p:cNvPr id="11" name="Shape 8"/>
          <p:cNvSpPr/>
          <p:nvPr/>
        </p:nvSpPr>
        <p:spPr>
          <a:xfrm>
            <a:off x="4384548" y="2331720"/>
            <a:ext cx="822960" cy="822960"/>
          </a:xfrm>
          <a:prstGeom prst="ellipse">
            <a:avLst/>
          </a:prstGeom>
          <a:solidFill>
            <a:srgbClr val="7FD8E8"/>
          </a:solidFill>
          <a:ln/>
        </p:spPr>
      </p:sp>
      <p:pic>
        <p:nvPicPr>
          <p:cNvPr id="12" name="Image 1" descr="cpu.png">    </p:cNvPr>
          <p:cNvPicPr>
            <a:picLocks noChangeAspect="1"/>
          </p:cNvPicPr>
          <p:nvPr/>
        </p:nvPicPr>
        <p:blipFill>
          <a:blip r:embed="rId2"/>
          <a:stretch>
            <a:fillRect/>
          </a:stretch>
        </p:blipFill>
        <p:spPr>
          <a:xfrm>
            <a:off x="4598518" y="2545690"/>
            <a:ext cx="395021" cy="395021"/>
          </a:xfrm>
          <a:prstGeom prst="rect">
            <a:avLst/>
          </a:prstGeom>
        </p:spPr>
      </p:pic>
      <p:sp>
        <p:nvSpPr>
          <p:cNvPr id="13" name="Text 9"/>
          <p:cNvSpPr/>
          <p:nvPr/>
        </p:nvSpPr>
        <p:spPr>
          <a:xfrm>
            <a:off x="3630168" y="2103120"/>
            <a:ext cx="457200" cy="365760"/>
          </a:xfrm>
          <a:prstGeom prst="rect">
            <a:avLst/>
          </a:prstGeom>
          <a:noFill/>
          <a:ln/>
        </p:spPr>
        <p:txBody>
          <a:bodyPr wrap="square" rtlCol="0" anchor="ctr"/>
          <a:lstStyle/>
          <a:p>
            <a:pPr indent="0" marL="0">
              <a:buNone/>
            </a:pPr>
            <a:r>
              <a:rPr lang="en-US" sz="1600" b="1" dirty="0">
                <a:solidFill>
                  <a:srgbClr val="7FD8E8"/>
                </a:solidFill>
                <a:latin typeface="Cambria" pitchFamily="34" charset="0"/>
                <a:ea typeface="Cambria" pitchFamily="34" charset="-122"/>
                <a:cs typeface="Cambria" pitchFamily="34" charset="-120"/>
              </a:rPr>
              <a:t>2</a:t>
            </a:r>
            <a:endParaRPr lang="en-US" sz="1600" dirty="0"/>
          </a:p>
        </p:txBody>
      </p:sp>
      <p:sp>
        <p:nvSpPr>
          <p:cNvPr id="14" name="Text 10"/>
          <p:cNvSpPr/>
          <p:nvPr/>
        </p:nvSpPr>
        <p:spPr>
          <a:xfrm>
            <a:off x="3721608" y="3383280"/>
            <a:ext cx="214884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Detection</a:t>
            </a:r>
            <a:endParaRPr lang="en-US" sz="1500" dirty="0"/>
          </a:p>
        </p:txBody>
      </p:sp>
      <p:sp>
        <p:nvSpPr>
          <p:cNvPr id="15" name="Text 11"/>
          <p:cNvSpPr/>
          <p:nvPr/>
        </p:nvSpPr>
        <p:spPr>
          <a:xfrm>
            <a:off x="3767328" y="3886200"/>
            <a:ext cx="2057400" cy="1280160"/>
          </a:xfrm>
          <a:prstGeom prst="rect">
            <a:avLst/>
          </a:prstGeom>
          <a:noFill/>
          <a:ln/>
        </p:spPr>
        <p:txBody>
          <a:bodyPr wrap="square" rtlCol="0" anchor="t"/>
          <a:lstStyle/>
          <a:p>
            <a:pPr algn="ctr" indent="0" marL="0">
              <a:lnSpc>
                <a:spcPct val="120000"/>
              </a:lnSpc>
              <a:buNone/>
            </a:pPr>
            <a:r>
              <a:rPr lang="en-US" sz="1150" dirty="0">
                <a:solidFill>
                  <a:srgbClr val="A9A3C2"/>
                </a:solidFill>
                <a:latin typeface="Calibri" pitchFamily="34" charset="0"/>
                <a:ea typeface="Calibri" pitchFamily="34" charset="-122"/>
                <a:cs typeface="Calibri" pitchFamily="34" charset="-120"/>
              </a:rPr>
              <a:t>CLIP garment ID with confidence, color extracted and named</a:t>
            </a:r>
            <a:endParaRPr lang="en-US" sz="1150" dirty="0"/>
          </a:p>
        </p:txBody>
      </p:sp>
      <p:sp>
        <p:nvSpPr>
          <p:cNvPr id="16" name="Shape 12"/>
          <p:cNvSpPr/>
          <p:nvPr/>
        </p:nvSpPr>
        <p:spPr>
          <a:xfrm>
            <a:off x="6345936" y="1965960"/>
            <a:ext cx="2606040" cy="3383280"/>
          </a:xfrm>
          <a:prstGeom prst="roundRect">
            <a:avLst>
              <a:gd name="adj" fmla="val 4211"/>
            </a:avLst>
          </a:prstGeom>
          <a:solidFill>
            <a:srgbClr val="1D1A2E"/>
          </a:solidFill>
          <a:ln w="12700">
            <a:solidFill>
              <a:srgbClr val="322C4C"/>
            </a:solidFill>
            <a:prstDash val="solid"/>
          </a:ln>
        </p:spPr>
      </p:sp>
      <p:sp>
        <p:nvSpPr>
          <p:cNvPr id="17" name="Shape 13"/>
          <p:cNvSpPr/>
          <p:nvPr/>
        </p:nvSpPr>
        <p:spPr>
          <a:xfrm>
            <a:off x="7237476" y="2331720"/>
            <a:ext cx="822960" cy="822960"/>
          </a:xfrm>
          <a:prstGeom prst="ellipse">
            <a:avLst/>
          </a:prstGeom>
          <a:solidFill>
            <a:srgbClr val="EC6FA6"/>
          </a:solidFill>
          <a:ln/>
        </p:spPr>
      </p:sp>
      <p:pic>
        <p:nvPicPr>
          <p:cNvPr id="18" name="Image 2" descr="sliders.png">    </p:cNvPr>
          <p:cNvPicPr>
            <a:picLocks noChangeAspect="1"/>
          </p:cNvPicPr>
          <p:nvPr/>
        </p:nvPicPr>
        <p:blipFill>
          <a:blip r:embed="rId3"/>
          <a:stretch>
            <a:fillRect/>
          </a:stretch>
        </p:blipFill>
        <p:spPr>
          <a:xfrm>
            <a:off x="7451446" y="2545690"/>
            <a:ext cx="395021" cy="395021"/>
          </a:xfrm>
          <a:prstGeom prst="rect">
            <a:avLst/>
          </a:prstGeom>
        </p:spPr>
      </p:pic>
      <p:sp>
        <p:nvSpPr>
          <p:cNvPr id="19" name="Text 14"/>
          <p:cNvSpPr/>
          <p:nvPr/>
        </p:nvSpPr>
        <p:spPr>
          <a:xfrm>
            <a:off x="6483096" y="2103120"/>
            <a:ext cx="457200" cy="365760"/>
          </a:xfrm>
          <a:prstGeom prst="rect">
            <a:avLst/>
          </a:prstGeom>
          <a:noFill/>
          <a:ln/>
        </p:spPr>
        <p:txBody>
          <a:bodyPr wrap="square" rtlCol="0" anchor="ctr"/>
          <a:lstStyle/>
          <a:p>
            <a:pPr indent="0" marL="0">
              <a:buNone/>
            </a:pPr>
            <a:r>
              <a:rPr lang="en-US" sz="1600" b="1" dirty="0">
                <a:solidFill>
                  <a:srgbClr val="7FD8E8"/>
                </a:solidFill>
                <a:latin typeface="Cambria" pitchFamily="34" charset="0"/>
                <a:ea typeface="Cambria" pitchFamily="34" charset="-122"/>
                <a:cs typeface="Cambria" pitchFamily="34" charset="-120"/>
              </a:rPr>
              <a:t>3</a:t>
            </a:r>
            <a:endParaRPr lang="en-US" sz="1600" dirty="0"/>
          </a:p>
        </p:txBody>
      </p:sp>
      <p:sp>
        <p:nvSpPr>
          <p:cNvPr id="20" name="Text 15"/>
          <p:cNvSpPr/>
          <p:nvPr/>
        </p:nvSpPr>
        <p:spPr>
          <a:xfrm>
            <a:off x="6574536" y="3383280"/>
            <a:ext cx="214884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Styling suggestion</a:t>
            </a:r>
            <a:endParaRPr lang="en-US" sz="1500" dirty="0"/>
          </a:p>
        </p:txBody>
      </p:sp>
      <p:sp>
        <p:nvSpPr>
          <p:cNvPr id="21" name="Text 16"/>
          <p:cNvSpPr/>
          <p:nvPr/>
        </p:nvSpPr>
        <p:spPr>
          <a:xfrm>
            <a:off x="6620256" y="3886200"/>
            <a:ext cx="2057400" cy="1280160"/>
          </a:xfrm>
          <a:prstGeom prst="rect">
            <a:avLst/>
          </a:prstGeom>
          <a:noFill/>
          <a:ln/>
        </p:spPr>
        <p:txBody>
          <a:bodyPr wrap="square" rtlCol="0" anchor="t"/>
          <a:lstStyle/>
          <a:p>
            <a:pPr algn="ctr" indent="0" marL="0">
              <a:lnSpc>
                <a:spcPct val="120000"/>
              </a:lnSpc>
              <a:buNone/>
            </a:pPr>
            <a:r>
              <a:rPr lang="en-US" sz="1150" dirty="0">
                <a:solidFill>
                  <a:srgbClr val="A9A3C2"/>
                </a:solidFill>
                <a:latin typeface="Calibri" pitchFamily="34" charset="0"/>
                <a:ea typeface="Calibri" pitchFamily="34" charset="-122"/>
                <a:cs typeface="Calibri" pitchFamily="34" charset="-120"/>
              </a:rPr>
              <a:t>Contextual advice with real pairing photos, pulled live</a:t>
            </a:r>
            <a:endParaRPr lang="en-US" sz="1150" dirty="0"/>
          </a:p>
        </p:txBody>
      </p:sp>
      <p:sp>
        <p:nvSpPr>
          <p:cNvPr id="22" name="Shape 17"/>
          <p:cNvSpPr/>
          <p:nvPr/>
        </p:nvSpPr>
        <p:spPr>
          <a:xfrm>
            <a:off x="9198864" y="1965960"/>
            <a:ext cx="2606040" cy="3383280"/>
          </a:xfrm>
          <a:prstGeom prst="roundRect">
            <a:avLst>
              <a:gd name="adj" fmla="val 4211"/>
            </a:avLst>
          </a:prstGeom>
          <a:solidFill>
            <a:srgbClr val="1D1A2E"/>
          </a:solidFill>
          <a:ln w="12700">
            <a:solidFill>
              <a:srgbClr val="322C4C"/>
            </a:solidFill>
            <a:prstDash val="solid"/>
          </a:ln>
        </p:spPr>
      </p:sp>
      <p:sp>
        <p:nvSpPr>
          <p:cNvPr id="23" name="Shape 18"/>
          <p:cNvSpPr/>
          <p:nvPr/>
        </p:nvSpPr>
        <p:spPr>
          <a:xfrm>
            <a:off x="10090404" y="2331720"/>
            <a:ext cx="822960" cy="822960"/>
          </a:xfrm>
          <a:prstGeom prst="ellipse">
            <a:avLst/>
          </a:prstGeom>
          <a:solidFill>
            <a:srgbClr val="7FD8E8"/>
          </a:solidFill>
          <a:ln/>
        </p:spPr>
      </p:sp>
      <p:pic>
        <p:nvPicPr>
          <p:cNvPr id="24" name="Image 3" descr="book.png">    </p:cNvPr>
          <p:cNvPicPr>
            <a:picLocks noChangeAspect="1"/>
          </p:cNvPicPr>
          <p:nvPr/>
        </p:nvPicPr>
        <p:blipFill>
          <a:blip r:embed="rId4"/>
          <a:stretch>
            <a:fillRect/>
          </a:stretch>
        </p:blipFill>
        <p:spPr>
          <a:xfrm>
            <a:off x="10304374" y="2545690"/>
            <a:ext cx="395021" cy="395021"/>
          </a:xfrm>
          <a:prstGeom prst="rect">
            <a:avLst/>
          </a:prstGeom>
        </p:spPr>
      </p:pic>
      <p:sp>
        <p:nvSpPr>
          <p:cNvPr id="25" name="Text 19"/>
          <p:cNvSpPr/>
          <p:nvPr/>
        </p:nvSpPr>
        <p:spPr>
          <a:xfrm>
            <a:off x="9336024" y="2103120"/>
            <a:ext cx="457200" cy="365760"/>
          </a:xfrm>
          <a:prstGeom prst="rect">
            <a:avLst/>
          </a:prstGeom>
          <a:noFill/>
          <a:ln/>
        </p:spPr>
        <p:txBody>
          <a:bodyPr wrap="square" rtlCol="0" anchor="ctr"/>
          <a:lstStyle/>
          <a:p>
            <a:pPr indent="0" marL="0">
              <a:buNone/>
            </a:pPr>
            <a:r>
              <a:rPr lang="en-US" sz="1600" b="1" dirty="0">
                <a:solidFill>
                  <a:srgbClr val="7FD8E8"/>
                </a:solidFill>
                <a:latin typeface="Cambria" pitchFamily="34" charset="0"/>
                <a:ea typeface="Cambria" pitchFamily="34" charset="-122"/>
                <a:cs typeface="Cambria" pitchFamily="34" charset="-120"/>
              </a:rPr>
              <a:t>4</a:t>
            </a:r>
            <a:endParaRPr lang="en-US" sz="1600" dirty="0"/>
          </a:p>
        </p:txBody>
      </p:sp>
      <p:sp>
        <p:nvSpPr>
          <p:cNvPr id="26" name="Text 20"/>
          <p:cNvSpPr/>
          <p:nvPr/>
        </p:nvSpPr>
        <p:spPr>
          <a:xfrm>
            <a:off x="9427464" y="3383280"/>
            <a:ext cx="2148840" cy="457200"/>
          </a:xfrm>
          <a:prstGeom prst="rect">
            <a:avLst/>
          </a:prstGeom>
          <a:noFill/>
          <a:ln/>
        </p:spPr>
        <p:txBody>
          <a:bodyPr wrap="square"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Lookbook</a:t>
            </a:r>
            <a:endParaRPr lang="en-US" sz="1500" dirty="0"/>
          </a:p>
        </p:txBody>
      </p:sp>
      <p:sp>
        <p:nvSpPr>
          <p:cNvPr id="27" name="Text 21"/>
          <p:cNvSpPr/>
          <p:nvPr/>
        </p:nvSpPr>
        <p:spPr>
          <a:xfrm>
            <a:off x="9473184" y="3886200"/>
            <a:ext cx="2057400" cy="1280160"/>
          </a:xfrm>
          <a:prstGeom prst="rect">
            <a:avLst/>
          </a:prstGeom>
          <a:noFill/>
          <a:ln/>
        </p:spPr>
        <p:txBody>
          <a:bodyPr wrap="square" rtlCol="0" anchor="t"/>
          <a:lstStyle/>
          <a:p>
            <a:pPr algn="ctr" indent="0" marL="0">
              <a:lnSpc>
                <a:spcPct val="120000"/>
              </a:lnSpc>
              <a:buNone/>
            </a:pPr>
            <a:r>
              <a:rPr lang="en-US" sz="1150" dirty="0">
                <a:solidFill>
                  <a:srgbClr val="A9A3C2"/>
                </a:solidFill>
                <a:latin typeface="Calibri" pitchFamily="34" charset="0"/>
                <a:ea typeface="Calibri" pitchFamily="34" charset="-122"/>
                <a:cs typeface="Calibri" pitchFamily="34" charset="-120"/>
              </a:rPr>
              <a:t>Every look saves automatically — persists across restarts</a:t>
            </a:r>
            <a:endParaRPr lang="en-US" sz="1150" dirty="0"/>
          </a:p>
        </p:txBody>
      </p:sp>
      <p:sp>
        <p:nvSpPr>
          <p:cNvPr id="28" name="Text 22"/>
          <p:cNvSpPr/>
          <p:nvPr/>
        </p:nvSpPr>
        <p:spPr>
          <a:xfrm>
            <a:off x="640080" y="5623560"/>
            <a:ext cx="10515600" cy="457200"/>
          </a:xfrm>
          <a:prstGeom prst="rect">
            <a:avLst/>
          </a:prstGeom>
          <a:noFill/>
          <a:ln/>
        </p:spPr>
        <p:txBody>
          <a:bodyPr wrap="square" rtlCol="0" anchor="ctr"/>
          <a:lstStyle/>
          <a:p>
            <a:pPr algn="ctr" indent="0" marL="0">
              <a:buNone/>
            </a:pPr>
            <a:r>
              <a:rPr lang="en-US" sz="1250" i="1" dirty="0">
                <a:solidFill>
                  <a:srgbClr val="7FD8E8"/>
                </a:solidFill>
                <a:latin typeface="Calibri" pitchFamily="34" charset="0"/>
                <a:ea typeface="Calibri" pitchFamily="34" charset="-122"/>
                <a:cs typeface="Calibri" pitchFamily="34" charset="-120"/>
              </a:rPr>
              <a:t>Model Insights page: training curves · confusion matrix · feature maps · misclassified examples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3111F"/>
        </a:solidFill>
      </p:bgPr>
    </p:bg>
    <p:spTree>
      <p:nvGrpSpPr>
        <p:cNvPr id="1" name=""/>
        <p:cNvGrpSpPr/>
        <p:nvPr/>
      </p:nvGrpSpPr>
      <p:grpSpPr>
        <a:xfrm>
          <a:off x="0" y="0"/>
          <a:ext cx="0" cy="0"/>
          <a:chOff x="0" y="0"/>
          <a:chExt cx="0" cy="0"/>
        </a:xfrm>
      </p:grpSpPr>
      <p:pic>
        <p:nvPicPr>
          <p:cNvPr id="2" name="Image 0" descr="gradient_pinkblue.png">    </p:cNvPr>
          <p:cNvPicPr>
            <a:picLocks noChangeAspect="1"/>
          </p:cNvPicPr>
          <p:nvPr/>
        </p:nvPicPr>
        <p:blipFill>
          <a:blip r:embed="rId1">
            <a:alphaModFix amt="88000"/>
          </a:blip>
          <a:stretch>
            <a:fillRect/>
          </a:stretch>
        </p:blipFill>
        <p:spPr>
          <a:xfrm>
            <a:off x="-2560320" y="3291840"/>
            <a:ext cx="5486400" cy="5486400"/>
          </a:xfrm>
          <a:prstGeom prst="rect">
            <a:avLst/>
          </a:prstGeom>
        </p:spPr>
      </p:pic>
      <p:sp>
        <p:nvSpPr>
          <p:cNvPr id="3" name="Shape 0"/>
          <p:cNvSpPr/>
          <p:nvPr/>
        </p:nvSpPr>
        <p:spPr>
          <a:xfrm>
            <a:off x="9875520" y="-1645920"/>
            <a:ext cx="4114800" cy="4114800"/>
          </a:xfrm>
          <a:prstGeom prst="ellipse">
            <a:avLst/>
          </a:prstGeom>
          <a:solidFill>
            <a:srgbClr val="7FD8E8"/>
          </a:solidFill>
          <a:ln/>
        </p:spPr>
      </p:sp>
      <p:sp>
        <p:nvSpPr>
          <p:cNvPr id="4" name="Text 1"/>
          <p:cNvSpPr/>
          <p:nvPr/>
        </p:nvSpPr>
        <p:spPr>
          <a:xfrm>
            <a:off x="640080" y="685800"/>
            <a:ext cx="5486400" cy="365760"/>
          </a:xfrm>
          <a:prstGeom prst="rect">
            <a:avLst/>
          </a:prstGeom>
          <a:noFill/>
          <a:ln/>
        </p:spPr>
        <p:txBody>
          <a:bodyPr wrap="square" rtlCol="0" anchor="ctr"/>
          <a:lstStyle/>
          <a:p>
            <a:pPr indent="0" marL="0">
              <a:buNone/>
            </a:pPr>
            <a:r>
              <a:rPr lang="en-US" sz="1300" b="1" spc="300" kern="0" dirty="0">
                <a:solidFill>
                  <a:srgbClr val="F48FB1"/>
                </a:solidFill>
                <a:latin typeface="Calibri" pitchFamily="34" charset="0"/>
                <a:ea typeface="Calibri" pitchFamily="34" charset="-122"/>
                <a:cs typeface="Calibri" pitchFamily="34" charset="-120"/>
              </a:rPr>
              <a:t>CLOSING</a:t>
            </a:r>
            <a:endParaRPr lang="en-US" sz="1300" dirty="0"/>
          </a:p>
        </p:txBody>
      </p:sp>
      <p:sp>
        <p:nvSpPr>
          <p:cNvPr id="5" name="Text 2"/>
          <p:cNvSpPr/>
          <p:nvPr/>
        </p:nvSpPr>
        <p:spPr>
          <a:xfrm>
            <a:off x="640080" y="1051560"/>
            <a:ext cx="10058400" cy="91440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Training and judgment, not just the fanciest model</a:t>
            </a:r>
            <a:endParaRPr lang="en-US" sz="3000" dirty="0"/>
          </a:p>
        </p:txBody>
      </p:sp>
      <p:sp>
        <p:nvSpPr>
          <p:cNvPr id="6" name="Text 3"/>
          <p:cNvSpPr/>
          <p:nvPr/>
        </p:nvSpPr>
        <p:spPr>
          <a:xfrm>
            <a:off x="640080" y="2103120"/>
            <a:ext cx="7863840" cy="1188720"/>
          </a:xfrm>
          <a:prstGeom prst="rect">
            <a:avLst/>
          </a:prstGeom>
          <a:noFill/>
          <a:ln/>
        </p:spPr>
        <p:txBody>
          <a:bodyPr wrap="square" rtlCol="0" anchor="t"/>
          <a:lstStyle/>
          <a:p>
            <a:pPr indent="0" marL="0">
              <a:lnSpc>
                <a:spcPct val="130000"/>
              </a:lnSpc>
              <a:buNone/>
            </a:pPr>
            <a:r>
              <a:rPr lang="en-US" sz="1500" dirty="0">
                <a:solidFill>
                  <a:srgbClr val="A9A3C2"/>
                </a:solidFill>
                <a:latin typeface="Calibri" pitchFamily="34" charset="0"/>
                <a:ea typeface="Calibri" pitchFamily="34" charset="-122"/>
                <a:cs typeface="Calibri" pitchFamily="34" charset="-120"/>
              </a:rPr>
              <a:t>From training and evaluating a CNN from scratch, to a working application doing real garment detection, color analysis, and contextual styling — with the judgment to use the right model for each part of the problem.</a:t>
            </a:r>
            <a:endParaRPr lang="en-US" sz="1500" dirty="0"/>
          </a:p>
        </p:txBody>
      </p:sp>
      <p:sp>
        <p:nvSpPr>
          <p:cNvPr id="7" name="Text 4"/>
          <p:cNvSpPr/>
          <p:nvPr/>
        </p:nvSpPr>
        <p:spPr>
          <a:xfrm>
            <a:off x="640080" y="3520440"/>
            <a:ext cx="4572000" cy="320040"/>
          </a:xfrm>
          <a:prstGeom prst="rect">
            <a:avLst/>
          </a:prstGeom>
          <a:noFill/>
          <a:ln/>
        </p:spPr>
        <p:txBody>
          <a:bodyPr wrap="square" rtlCol="0" anchor="ctr"/>
          <a:lstStyle/>
          <a:p>
            <a:pPr indent="0" marL="0">
              <a:buNone/>
            </a:pPr>
            <a:r>
              <a:rPr lang="en-US" sz="1200" b="1" spc="200" kern="0" dirty="0">
                <a:solidFill>
                  <a:srgbClr val="7FD8E8"/>
                </a:solidFill>
                <a:latin typeface="Calibri" pitchFamily="34" charset="0"/>
                <a:ea typeface="Calibri" pitchFamily="34" charset="-122"/>
                <a:cs typeface="Calibri" pitchFamily="34" charset="-120"/>
              </a:rPr>
              <a:t>NEXT STEPS</a:t>
            </a:r>
            <a:endParaRPr lang="en-US" sz="1200" dirty="0"/>
          </a:p>
        </p:txBody>
      </p:sp>
      <p:sp>
        <p:nvSpPr>
          <p:cNvPr id="8" name="Shape 5"/>
          <p:cNvSpPr/>
          <p:nvPr/>
        </p:nvSpPr>
        <p:spPr>
          <a:xfrm>
            <a:off x="640080" y="3968496"/>
            <a:ext cx="82296" cy="82296"/>
          </a:xfrm>
          <a:prstGeom prst="ellipse">
            <a:avLst/>
          </a:prstGeom>
          <a:solidFill>
            <a:srgbClr val="EC6FA6"/>
          </a:solidFill>
          <a:ln/>
        </p:spPr>
      </p:sp>
      <p:sp>
        <p:nvSpPr>
          <p:cNvPr id="9" name="Text 6"/>
          <p:cNvSpPr/>
          <p:nvPr/>
        </p:nvSpPr>
        <p:spPr>
          <a:xfrm>
            <a:off x="868680" y="3858768"/>
            <a:ext cx="7315200" cy="36576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Hosted database instead of local SQLite</a:t>
            </a:r>
            <a:endParaRPr lang="en-US" sz="1350" dirty="0"/>
          </a:p>
        </p:txBody>
      </p:sp>
      <p:sp>
        <p:nvSpPr>
          <p:cNvPr id="10" name="Shape 7"/>
          <p:cNvSpPr/>
          <p:nvPr/>
        </p:nvSpPr>
        <p:spPr>
          <a:xfrm>
            <a:off x="640080" y="4425696"/>
            <a:ext cx="82296" cy="82296"/>
          </a:xfrm>
          <a:prstGeom prst="ellipse">
            <a:avLst/>
          </a:prstGeom>
          <a:solidFill>
            <a:srgbClr val="EC6FA6"/>
          </a:solidFill>
          <a:ln/>
        </p:spPr>
      </p:sp>
      <p:sp>
        <p:nvSpPr>
          <p:cNvPr id="11" name="Text 8"/>
          <p:cNvSpPr/>
          <p:nvPr/>
        </p:nvSpPr>
        <p:spPr>
          <a:xfrm>
            <a:off x="868680" y="4315968"/>
            <a:ext cx="7315200" cy="36576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User accounts</a:t>
            </a:r>
            <a:endParaRPr lang="en-US" sz="1350" dirty="0"/>
          </a:p>
        </p:txBody>
      </p:sp>
      <p:sp>
        <p:nvSpPr>
          <p:cNvPr id="12" name="Shape 9"/>
          <p:cNvSpPr/>
          <p:nvPr/>
        </p:nvSpPr>
        <p:spPr>
          <a:xfrm>
            <a:off x="640080" y="4882896"/>
            <a:ext cx="82296" cy="82296"/>
          </a:xfrm>
          <a:prstGeom prst="ellipse">
            <a:avLst/>
          </a:prstGeom>
          <a:solidFill>
            <a:srgbClr val="EC6FA6"/>
          </a:solidFill>
          <a:ln/>
        </p:spPr>
      </p:sp>
      <p:sp>
        <p:nvSpPr>
          <p:cNvPr id="13" name="Text 10"/>
          <p:cNvSpPr/>
          <p:nvPr/>
        </p:nvSpPr>
        <p:spPr>
          <a:xfrm>
            <a:off x="868680" y="4773168"/>
            <a:ext cx="7315200" cy="365760"/>
          </a:xfrm>
          <a:prstGeom prst="rect">
            <a:avLst/>
          </a:prstGeom>
          <a:noFill/>
          <a:ln/>
        </p:spPr>
        <p:txBody>
          <a:bodyPr wrap="square"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Fine-tuned vision model for niche garment types</a:t>
            </a:r>
            <a:endParaRPr lang="en-US" sz="1350" dirty="0"/>
          </a:p>
        </p:txBody>
      </p:sp>
      <p:sp>
        <p:nvSpPr>
          <p:cNvPr id="14" name="Text 11"/>
          <p:cNvSpPr/>
          <p:nvPr/>
        </p:nvSpPr>
        <p:spPr>
          <a:xfrm>
            <a:off x="640080" y="5806440"/>
            <a:ext cx="8229600" cy="457200"/>
          </a:xfrm>
          <a:prstGeom prst="rect">
            <a:avLst/>
          </a:prstGeom>
          <a:noFill/>
          <a:ln/>
        </p:spPr>
        <p:txBody>
          <a:bodyPr wrap="square" rtlCol="0" anchor="ctr"/>
          <a:lstStyle/>
          <a:p>
            <a:pPr indent="0" marL="0">
              <a:buNone/>
            </a:pPr>
            <a:r>
              <a:rPr lang="en-US" sz="1700" b="1" i="1" dirty="0">
                <a:solidFill>
                  <a:srgbClr val="F48FB1"/>
                </a:solidFill>
                <a:latin typeface="Cambria" pitchFamily="34" charset="0"/>
                <a:ea typeface="Cambria" pitchFamily="34" charset="-122"/>
                <a:cs typeface="Cambria" pitchFamily="34" charset="-120"/>
              </a:rPr>
              <a:t>Thank you — happy to answer any questions.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2026-07-11T06:48:47Z</dcterms:created>
  <dcterms:modified xsi:type="dcterms:W3CDTF">2026-07-11T06:48:47Z</dcterms:modified>
</cp:coreProperties>
</file>